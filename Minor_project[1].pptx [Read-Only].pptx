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2" r:id="rId1"/>
  </p:sldMasterIdLst>
  <p:notesMasterIdLst>
    <p:notesMasterId r:id="rId33"/>
  </p:notesMasterIdLst>
  <p:handoutMasterIdLst>
    <p:handoutMasterId r:id="rId34"/>
  </p:handoutMasterIdLst>
  <p:sldIdLst>
    <p:sldId id="265" r:id="rId2"/>
    <p:sldId id="287" r:id="rId3"/>
    <p:sldId id="500" r:id="rId4"/>
    <p:sldId id="369" r:id="rId5"/>
    <p:sldId id="468" r:id="rId6"/>
    <p:sldId id="507" r:id="rId7"/>
    <p:sldId id="506" r:id="rId8"/>
    <p:sldId id="511" r:id="rId9"/>
    <p:sldId id="512" r:id="rId10"/>
    <p:sldId id="516" r:id="rId11"/>
    <p:sldId id="518" r:id="rId12"/>
    <p:sldId id="510" r:id="rId13"/>
    <p:sldId id="517" r:id="rId14"/>
    <p:sldId id="529" r:id="rId15"/>
    <p:sldId id="513" r:id="rId16"/>
    <p:sldId id="515" r:id="rId17"/>
    <p:sldId id="514" r:id="rId18"/>
    <p:sldId id="508" r:id="rId19"/>
    <p:sldId id="519" r:id="rId20"/>
    <p:sldId id="526" r:id="rId21"/>
    <p:sldId id="525" r:id="rId22"/>
    <p:sldId id="524" r:id="rId23"/>
    <p:sldId id="523" r:id="rId24"/>
    <p:sldId id="527" r:id="rId25"/>
    <p:sldId id="528" r:id="rId26"/>
    <p:sldId id="522" r:id="rId27"/>
    <p:sldId id="501" r:id="rId28"/>
    <p:sldId id="520" r:id="rId29"/>
    <p:sldId id="521" r:id="rId30"/>
    <p:sldId id="295" r:id="rId31"/>
    <p:sldId id="286" r:id="rId32"/>
  </p:sldIdLst>
  <p:sldSz cx="9144000" cy="6858000" type="screen4x3"/>
  <p:notesSz cx="6735763" cy="98694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8">
          <p15:clr>
            <a:srgbClr val="A4A3A4"/>
          </p15:clr>
        </p15:guide>
        <p15:guide id="2" pos="212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00"/>
    <a:srgbClr val="93AE72"/>
    <a:srgbClr val="B1C1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1400" y="44"/>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08"/>
        <p:guide pos="212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347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15373" y="0"/>
            <a:ext cx="2918831" cy="493474"/>
          </a:xfrm>
          <a:prstGeom prst="rect">
            <a:avLst/>
          </a:prstGeom>
        </p:spPr>
        <p:txBody>
          <a:bodyPr vert="horz" lIns="91440" tIns="45720" rIns="91440" bIns="45720" rtlCol="0"/>
          <a:lstStyle>
            <a:lvl1pPr algn="r">
              <a:defRPr sz="1200"/>
            </a:lvl1pPr>
          </a:lstStyle>
          <a:p>
            <a:fld id="{2C71ACE5-0652-499A-82AC-ADDC7C376A62}" type="datetimeFigureOut">
              <a:rPr lang="en-US" smtClean="0"/>
              <a:pPr/>
              <a:t>7/5/2025</a:t>
            </a:fld>
            <a:endParaRPr lang="en-US"/>
          </a:p>
        </p:txBody>
      </p:sp>
      <p:sp>
        <p:nvSpPr>
          <p:cNvPr id="4" name="Footer Placeholder 3"/>
          <p:cNvSpPr>
            <a:spLocks noGrp="1"/>
          </p:cNvSpPr>
          <p:nvPr>
            <p:ph type="ftr" sz="quarter" idx="2"/>
          </p:nvPr>
        </p:nvSpPr>
        <p:spPr>
          <a:xfrm>
            <a:off x="0" y="9374301"/>
            <a:ext cx="2918831" cy="49347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15373" y="9374301"/>
            <a:ext cx="2918831" cy="493474"/>
          </a:xfrm>
          <a:prstGeom prst="rect">
            <a:avLst/>
          </a:prstGeom>
        </p:spPr>
        <p:txBody>
          <a:bodyPr vert="horz" lIns="91440" tIns="45720" rIns="91440" bIns="45720" rtlCol="0" anchor="b"/>
          <a:lstStyle>
            <a:lvl1pPr algn="r">
              <a:defRPr sz="1200"/>
            </a:lvl1pPr>
          </a:lstStyle>
          <a:p>
            <a:fld id="{E7FDB786-2F8F-487E-9F7A-390B65DB8806}" type="slidenum">
              <a:rPr lang="en-US" smtClean="0"/>
              <a:pPr/>
              <a:t>‹#›</a:t>
            </a:fld>
            <a:endParaRPr lang="en-US"/>
          </a:p>
        </p:txBody>
      </p:sp>
    </p:spTree>
    <p:extLst>
      <p:ext uri="{BB962C8B-B14F-4D97-AF65-F5344CB8AC3E}">
        <p14:creationId xmlns:p14="http://schemas.microsoft.com/office/powerpoint/2010/main" val="2801441489"/>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347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15373" y="0"/>
            <a:ext cx="2918831" cy="493474"/>
          </a:xfrm>
          <a:prstGeom prst="rect">
            <a:avLst/>
          </a:prstGeom>
        </p:spPr>
        <p:txBody>
          <a:bodyPr vert="horz" lIns="91440" tIns="45720" rIns="91440" bIns="45720" rtlCol="0"/>
          <a:lstStyle>
            <a:lvl1pPr algn="r">
              <a:defRPr sz="1200"/>
            </a:lvl1pPr>
          </a:lstStyle>
          <a:p>
            <a:fld id="{71709560-67D1-44A4-8C57-2765DEE809FB}" type="datetimeFigureOut">
              <a:rPr lang="en-US" smtClean="0"/>
              <a:pPr/>
              <a:t>7/5/2025</a:t>
            </a:fld>
            <a:endParaRPr lang="en-US"/>
          </a:p>
        </p:txBody>
      </p:sp>
      <p:sp>
        <p:nvSpPr>
          <p:cNvPr id="4" name="Slide Image Placeholder 3"/>
          <p:cNvSpPr>
            <a:spLocks noGrp="1" noRot="1" noChangeAspect="1"/>
          </p:cNvSpPr>
          <p:nvPr>
            <p:ph type="sldImg" idx="2"/>
          </p:nvPr>
        </p:nvSpPr>
        <p:spPr>
          <a:xfrm>
            <a:off x="900113" y="739775"/>
            <a:ext cx="4935537"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3577" y="4688007"/>
            <a:ext cx="5388610" cy="444127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4301"/>
            <a:ext cx="2918831" cy="49347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15373" y="9374301"/>
            <a:ext cx="2918831" cy="493474"/>
          </a:xfrm>
          <a:prstGeom prst="rect">
            <a:avLst/>
          </a:prstGeom>
        </p:spPr>
        <p:txBody>
          <a:bodyPr vert="horz" lIns="91440" tIns="45720" rIns="91440" bIns="45720" rtlCol="0" anchor="b"/>
          <a:lstStyle>
            <a:lvl1pPr algn="r">
              <a:defRPr sz="1200"/>
            </a:lvl1pPr>
          </a:lstStyle>
          <a:p>
            <a:fld id="{C4CF951E-0BAA-4E36-AA90-03BAA79777A1}" type="slidenum">
              <a:rPr lang="en-US" smtClean="0"/>
              <a:pPr/>
              <a:t>‹#›</a:t>
            </a:fld>
            <a:endParaRPr lang="en-US"/>
          </a:p>
        </p:txBody>
      </p:sp>
    </p:spTree>
    <p:extLst>
      <p:ext uri="{BB962C8B-B14F-4D97-AF65-F5344CB8AC3E}">
        <p14:creationId xmlns:p14="http://schemas.microsoft.com/office/powerpoint/2010/main" val="1910104204"/>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C4CF951E-0BAA-4E36-AA90-03BAA79777A1}" type="slidenum">
              <a:rPr lang="en-US" smtClean="0"/>
              <a:pPr/>
              <a:t>1</a:t>
            </a:fld>
            <a:endParaRPr lang="en-US"/>
          </a:p>
        </p:txBody>
      </p:sp>
      <p:sp>
        <p:nvSpPr>
          <p:cNvPr id="6" name="Footer Placeholder 5"/>
          <p:cNvSpPr>
            <a:spLocks noGrp="1"/>
          </p:cNvSpPr>
          <p:nvPr>
            <p:ph type="ftr" sz="quarter" idx="12"/>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C4CF951E-0BAA-4E36-AA90-03BAA79777A1}" type="slidenum">
              <a:rPr lang="en-US" smtClean="0"/>
              <a:pPr/>
              <a:t>2</a:t>
            </a:fld>
            <a:endParaRPr lang="en-US"/>
          </a:p>
        </p:txBody>
      </p:sp>
      <p:sp>
        <p:nvSpPr>
          <p:cNvPr id="6" name="Footer Placeholder 5"/>
          <p:cNvSpPr>
            <a:spLocks noGrp="1"/>
          </p:cNvSpPr>
          <p:nvPr>
            <p:ph type="ftr" sz="quarter" idx="12"/>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Header Placeholder 3"/>
          <p:cNvSpPr>
            <a:spLocks noGrp="1"/>
          </p:cNvSpPr>
          <p:nvPr>
            <p:ph type="hdr" sz="quarter" idx="10"/>
          </p:nvPr>
        </p:nvSpPr>
        <p:spPr/>
        <p:txBody>
          <a:bodyPr/>
          <a:lstStyle/>
          <a:p>
            <a:endParaRPr lang="en-US">
              <a:solidFill>
                <a:prstClr val="black"/>
              </a:solidFill>
            </a:endParaRPr>
          </a:p>
        </p:txBody>
      </p:sp>
      <p:sp>
        <p:nvSpPr>
          <p:cNvPr id="5" name="Slide Number Placeholder 4"/>
          <p:cNvSpPr>
            <a:spLocks noGrp="1"/>
          </p:cNvSpPr>
          <p:nvPr>
            <p:ph type="sldNum" sz="quarter" idx="11"/>
          </p:nvPr>
        </p:nvSpPr>
        <p:spPr/>
        <p:txBody>
          <a:bodyPr/>
          <a:lstStyle/>
          <a:p>
            <a:fld id="{C4CF951E-0BAA-4E36-AA90-03BAA79777A1}" type="slidenum">
              <a:rPr lang="en-US" smtClean="0">
                <a:solidFill>
                  <a:prstClr val="black"/>
                </a:solidFill>
              </a:rPr>
              <a:pPr/>
              <a:t>3</a:t>
            </a:fld>
            <a:endParaRPr lang="en-US">
              <a:solidFill>
                <a:prstClr val="black"/>
              </a:solidFill>
            </a:endParaRPr>
          </a:p>
        </p:txBody>
      </p:sp>
      <p:sp>
        <p:nvSpPr>
          <p:cNvPr id="6" name="Footer Placeholder 5"/>
          <p:cNvSpPr>
            <a:spLocks noGrp="1"/>
          </p:cNvSpPr>
          <p:nvPr>
            <p:ph type="ftr" sz="quarter" idx="12"/>
          </p:nvPr>
        </p:nvSpPr>
        <p:spPr/>
        <p:txBody>
          <a:bodyPr/>
          <a:lstStyle/>
          <a:p>
            <a:endParaRPr 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C4CF951E-0BAA-4E36-AA90-03BAA79777A1}" type="slidenum">
              <a:rPr lang="en-US" smtClean="0"/>
              <a:pPr/>
              <a:t>4</a:t>
            </a:fld>
            <a:endParaRPr lang="en-US"/>
          </a:p>
        </p:txBody>
      </p:sp>
      <p:sp>
        <p:nvSpPr>
          <p:cNvPr id="6" name="Footer Placeholder 5"/>
          <p:cNvSpPr>
            <a:spLocks noGrp="1"/>
          </p:cNvSpPr>
          <p:nvPr>
            <p:ph type="ftr" sz="quarter" idx="12"/>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C4CF951E-0BAA-4E36-AA90-03BAA79777A1}" type="slidenum">
              <a:rPr lang="en-US" smtClean="0"/>
              <a:pPr/>
              <a:t>5</a:t>
            </a:fld>
            <a:endParaRPr lang="en-US"/>
          </a:p>
        </p:txBody>
      </p:sp>
      <p:sp>
        <p:nvSpPr>
          <p:cNvPr id="6" name="Footer Placeholder 5"/>
          <p:cNvSpPr>
            <a:spLocks noGrp="1"/>
          </p:cNvSpPr>
          <p:nvPr>
            <p:ph type="ftr" sz="quarter" idx="12"/>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C4CF951E-0BAA-4E36-AA90-03BAA79777A1}" type="slidenum">
              <a:rPr lang="en-US" smtClean="0"/>
              <a:pPr/>
              <a:t>6</a:t>
            </a:fld>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4165186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C4CF951E-0BAA-4E36-AA90-03BAA79777A1}" type="slidenum">
              <a:rPr lang="en-US" smtClean="0"/>
              <a:pPr/>
              <a:t>7</a:t>
            </a:fld>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550020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C4CF951E-0BAA-4E36-AA90-03BAA79777A1}" type="slidenum">
              <a:rPr lang="en-US" smtClean="0"/>
              <a:pPr/>
              <a:t>8</a:t>
            </a:fld>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766207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C4CF951E-0BAA-4E36-AA90-03BAA79777A1}" type="slidenum">
              <a:rPr lang="en-US" smtClean="0"/>
              <a:pPr/>
              <a:t>9</a:t>
            </a:fld>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617522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C4CF951E-0BAA-4E36-AA90-03BAA79777A1}" type="slidenum">
              <a:rPr lang="en-US" smtClean="0"/>
              <a:pPr/>
              <a:t>10</a:t>
            </a:fld>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848282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C4CF951E-0BAA-4E36-AA90-03BAA79777A1}" type="slidenum">
              <a:rPr lang="en-US" smtClean="0"/>
              <a:pPr/>
              <a:t>11</a:t>
            </a:fld>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569104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TextEdit="1"/>
          </p:cNvSpPr>
          <p:nvPr>
            <p:ph type="sldImg"/>
          </p:nvPr>
        </p:nvSpPr>
        <p:spPr bwMode="auto">
          <a:noFill/>
          <a:ln>
            <a:solidFill>
              <a:srgbClr val="000000"/>
            </a:solidFill>
            <a:miter lim="800000"/>
            <a:headEnd/>
            <a:tailEnd/>
          </a:ln>
        </p:spPr>
      </p:sp>
      <p:sp>
        <p:nvSpPr>
          <p:cNvPr id="8909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1332048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TextEdit="1"/>
          </p:cNvSpPr>
          <p:nvPr>
            <p:ph type="sldImg"/>
          </p:nvPr>
        </p:nvSpPr>
        <p:spPr bwMode="auto">
          <a:noFill/>
          <a:ln>
            <a:solidFill>
              <a:srgbClr val="000000"/>
            </a:solidFill>
            <a:miter lim="800000"/>
            <a:headEnd/>
            <a:tailEnd/>
          </a:ln>
        </p:spPr>
      </p:sp>
      <p:sp>
        <p:nvSpPr>
          <p:cNvPr id="89091" name="Rectangle 3"/>
          <p:cNvSpPr>
            <a:spLocks noGrp="1"/>
          </p:cNvSpPr>
          <p:nvPr>
            <p:ph type="body" idx="1"/>
          </p:nvPr>
        </p:nvSpPr>
        <p:spPr bwMode="auto">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132249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5AE80-7867-BBFD-ECC2-483F718DD21D}"/>
            </a:ext>
          </a:extLst>
        </p:cNvPr>
        <p:cNvGrpSpPr/>
        <p:nvPr/>
      </p:nvGrpSpPr>
      <p:grpSpPr>
        <a:xfrm>
          <a:off x="0" y="0"/>
          <a:ext cx="0" cy="0"/>
          <a:chOff x="0" y="0"/>
          <a:chExt cx="0" cy="0"/>
        </a:xfrm>
      </p:grpSpPr>
      <p:sp>
        <p:nvSpPr>
          <p:cNvPr id="89090" name="Rectangle 2">
            <a:extLst>
              <a:ext uri="{FF2B5EF4-FFF2-40B4-BE49-F238E27FC236}">
                <a16:creationId xmlns:a16="http://schemas.microsoft.com/office/drawing/2014/main" id="{1A23C097-3841-CFF2-BDFB-21FC81DE2F8E}"/>
              </a:ext>
            </a:extLst>
          </p:cNvPr>
          <p:cNvSpPr>
            <a:spLocks noGrp="1" noRot="1" noChangeAspect="1" noTextEdit="1"/>
          </p:cNvSpPr>
          <p:nvPr>
            <p:ph type="sldImg"/>
          </p:nvPr>
        </p:nvSpPr>
        <p:spPr bwMode="auto">
          <a:noFill/>
          <a:ln>
            <a:solidFill>
              <a:srgbClr val="000000"/>
            </a:solidFill>
            <a:miter lim="800000"/>
            <a:headEnd/>
            <a:tailEnd/>
          </a:ln>
        </p:spPr>
      </p:sp>
      <p:sp>
        <p:nvSpPr>
          <p:cNvPr id="89091" name="Rectangle 3">
            <a:extLst>
              <a:ext uri="{FF2B5EF4-FFF2-40B4-BE49-F238E27FC236}">
                <a16:creationId xmlns:a16="http://schemas.microsoft.com/office/drawing/2014/main" id="{ADEC4235-807F-5888-2E48-D6757AA184E5}"/>
              </a:ext>
            </a:extLst>
          </p:cNvPr>
          <p:cNvSpPr>
            <a:spLocks noGrp="1"/>
          </p:cNvSpPr>
          <p:nvPr>
            <p:ph type="body" idx="1"/>
          </p:nvPr>
        </p:nvSpPr>
        <p:spPr bwMode="auto">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390607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C4CF951E-0BAA-4E36-AA90-03BAA79777A1}" type="slidenum">
              <a:rPr lang="en-US" smtClean="0"/>
              <a:pPr/>
              <a:t>15</a:t>
            </a:fld>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9994920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C4CF951E-0BAA-4E36-AA90-03BAA79777A1}" type="slidenum">
              <a:rPr lang="en-US" smtClean="0"/>
              <a:pPr/>
              <a:t>16</a:t>
            </a:fld>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572211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C4CF951E-0BAA-4E36-AA90-03BAA79777A1}" type="slidenum">
              <a:rPr lang="en-US" smtClean="0"/>
              <a:pPr/>
              <a:t>17</a:t>
            </a:fld>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1348825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CF951E-0BAA-4E36-AA90-03BAA79777A1}" type="slidenum">
              <a:rPr lang="en-US" smtClean="0"/>
              <a:pPr/>
              <a:t>18</a:t>
            </a:fld>
            <a:endParaRPr lang="en-US"/>
          </a:p>
        </p:txBody>
      </p:sp>
      <p:sp>
        <p:nvSpPr>
          <p:cNvPr id="5" name="Header Placeholder 4"/>
          <p:cNvSpPr>
            <a:spLocks noGrp="1"/>
          </p:cNvSpPr>
          <p:nvPr>
            <p:ph type="hdr" sz="quarter" idx="11"/>
          </p:nvPr>
        </p:nvSpPr>
        <p:spPr/>
        <p:txBody>
          <a:bodyPr/>
          <a:lstStyle/>
          <a:p>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583313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CF951E-0BAA-4E36-AA90-03BAA79777A1}" type="slidenum">
              <a:rPr lang="en-US" smtClean="0"/>
              <a:pPr/>
              <a:t>19</a:t>
            </a:fld>
            <a:endParaRPr lang="en-US"/>
          </a:p>
        </p:txBody>
      </p:sp>
      <p:sp>
        <p:nvSpPr>
          <p:cNvPr id="5" name="Header Placeholder 4"/>
          <p:cNvSpPr>
            <a:spLocks noGrp="1"/>
          </p:cNvSpPr>
          <p:nvPr>
            <p:ph type="hdr" sz="quarter" idx="11"/>
          </p:nvPr>
        </p:nvSpPr>
        <p:spPr/>
        <p:txBody>
          <a:bodyPr/>
          <a:lstStyle/>
          <a:p>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1043224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CF951E-0BAA-4E36-AA90-03BAA79777A1}" type="slidenum">
              <a:rPr lang="en-US" smtClean="0"/>
              <a:pPr/>
              <a:t>20</a:t>
            </a:fld>
            <a:endParaRPr lang="en-US"/>
          </a:p>
        </p:txBody>
      </p:sp>
      <p:sp>
        <p:nvSpPr>
          <p:cNvPr id="5" name="Header Placeholder 4"/>
          <p:cNvSpPr>
            <a:spLocks noGrp="1"/>
          </p:cNvSpPr>
          <p:nvPr>
            <p:ph type="hdr" sz="quarter" idx="11"/>
          </p:nvPr>
        </p:nvSpPr>
        <p:spPr/>
        <p:txBody>
          <a:bodyPr/>
          <a:lstStyle/>
          <a:p>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879536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CF951E-0BAA-4E36-AA90-03BAA79777A1}" type="slidenum">
              <a:rPr lang="en-US" smtClean="0"/>
              <a:pPr/>
              <a:t>21</a:t>
            </a:fld>
            <a:endParaRPr lang="en-US"/>
          </a:p>
        </p:txBody>
      </p:sp>
      <p:sp>
        <p:nvSpPr>
          <p:cNvPr id="5" name="Header Placeholder 4"/>
          <p:cNvSpPr>
            <a:spLocks noGrp="1"/>
          </p:cNvSpPr>
          <p:nvPr>
            <p:ph type="hdr" sz="quarter" idx="11"/>
          </p:nvPr>
        </p:nvSpPr>
        <p:spPr/>
        <p:txBody>
          <a:bodyPr/>
          <a:lstStyle/>
          <a:p>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846513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CF951E-0BAA-4E36-AA90-03BAA79777A1}" type="slidenum">
              <a:rPr lang="en-US" smtClean="0"/>
              <a:pPr/>
              <a:t>22</a:t>
            </a:fld>
            <a:endParaRPr lang="en-US"/>
          </a:p>
        </p:txBody>
      </p:sp>
      <p:sp>
        <p:nvSpPr>
          <p:cNvPr id="5" name="Header Placeholder 4"/>
          <p:cNvSpPr>
            <a:spLocks noGrp="1"/>
          </p:cNvSpPr>
          <p:nvPr>
            <p:ph type="hdr" sz="quarter" idx="11"/>
          </p:nvPr>
        </p:nvSpPr>
        <p:spPr/>
        <p:txBody>
          <a:bodyPr/>
          <a:lstStyle/>
          <a:p>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8993605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CF951E-0BAA-4E36-AA90-03BAA79777A1}" type="slidenum">
              <a:rPr lang="en-US" smtClean="0"/>
              <a:pPr/>
              <a:t>23</a:t>
            </a:fld>
            <a:endParaRPr lang="en-US"/>
          </a:p>
        </p:txBody>
      </p:sp>
      <p:sp>
        <p:nvSpPr>
          <p:cNvPr id="5" name="Header Placeholder 4"/>
          <p:cNvSpPr>
            <a:spLocks noGrp="1"/>
          </p:cNvSpPr>
          <p:nvPr>
            <p:ph type="hdr" sz="quarter" idx="11"/>
          </p:nvPr>
        </p:nvSpPr>
        <p:spPr/>
        <p:txBody>
          <a:bodyPr/>
          <a:lstStyle/>
          <a:p>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40800178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CF951E-0BAA-4E36-AA90-03BAA79777A1}" type="slidenum">
              <a:rPr lang="en-US" smtClean="0"/>
              <a:pPr/>
              <a:t>24</a:t>
            </a:fld>
            <a:endParaRPr lang="en-US"/>
          </a:p>
        </p:txBody>
      </p:sp>
      <p:sp>
        <p:nvSpPr>
          <p:cNvPr id="5" name="Header Placeholder 4"/>
          <p:cNvSpPr>
            <a:spLocks noGrp="1"/>
          </p:cNvSpPr>
          <p:nvPr>
            <p:ph type="hdr" sz="quarter" idx="11"/>
          </p:nvPr>
        </p:nvSpPr>
        <p:spPr/>
        <p:txBody>
          <a:bodyPr/>
          <a:lstStyle/>
          <a:p>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42046493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CF951E-0BAA-4E36-AA90-03BAA79777A1}" type="slidenum">
              <a:rPr lang="en-US" smtClean="0"/>
              <a:pPr/>
              <a:t>25</a:t>
            </a:fld>
            <a:endParaRPr lang="en-US"/>
          </a:p>
        </p:txBody>
      </p:sp>
      <p:sp>
        <p:nvSpPr>
          <p:cNvPr id="5" name="Header Placeholder 4"/>
          <p:cNvSpPr>
            <a:spLocks noGrp="1"/>
          </p:cNvSpPr>
          <p:nvPr>
            <p:ph type="hdr" sz="quarter" idx="11"/>
          </p:nvPr>
        </p:nvSpPr>
        <p:spPr/>
        <p:txBody>
          <a:bodyPr/>
          <a:lstStyle/>
          <a:p>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7191670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CF951E-0BAA-4E36-AA90-03BAA79777A1}" type="slidenum">
              <a:rPr lang="en-US" smtClean="0"/>
              <a:pPr/>
              <a:t>26</a:t>
            </a:fld>
            <a:endParaRPr lang="en-US"/>
          </a:p>
        </p:txBody>
      </p:sp>
      <p:sp>
        <p:nvSpPr>
          <p:cNvPr id="5" name="Header Placeholder 4"/>
          <p:cNvSpPr>
            <a:spLocks noGrp="1"/>
          </p:cNvSpPr>
          <p:nvPr>
            <p:ph type="hdr" sz="quarter" idx="11"/>
          </p:nvPr>
        </p:nvSpPr>
        <p:spPr/>
        <p:txBody>
          <a:bodyPr/>
          <a:lstStyle/>
          <a:p>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41818435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CF951E-0BAA-4E36-AA90-03BAA79777A1}" type="slidenum">
              <a:rPr lang="en-US" smtClean="0"/>
              <a:pPr/>
              <a:t>27</a:t>
            </a:fld>
            <a:endParaRPr lang="en-US"/>
          </a:p>
        </p:txBody>
      </p:sp>
      <p:sp>
        <p:nvSpPr>
          <p:cNvPr id="5" name="Header Placeholder 4"/>
          <p:cNvSpPr>
            <a:spLocks noGrp="1"/>
          </p:cNvSpPr>
          <p:nvPr>
            <p:ph type="hdr" sz="quarter" idx="11"/>
          </p:nvPr>
        </p:nvSpPr>
        <p:spPr/>
        <p:txBody>
          <a:bodyPr/>
          <a:lstStyle/>
          <a:p>
            <a:endParaRPr lang="en-US"/>
          </a:p>
        </p:txBody>
      </p:sp>
      <p:sp>
        <p:nvSpPr>
          <p:cNvPr id="6" name="Footer Placeholder 5"/>
          <p:cNvSpPr>
            <a:spLocks noGrp="1"/>
          </p:cNvSpPr>
          <p:nvPr>
            <p:ph type="ftr" sz="quarter" idx="12"/>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CF951E-0BAA-4E36-AA90-03BAA79777A1}" type="slidenum">
              <a:rPr lang="en-US" smtClean="0"/>
              <a:pPr/>
              <a:t>28</a:t>
            </a:fld>
            <a:endParaRPr lang="en-US"/>
          </a:p>
        </p:txBody>
      </p:sp>
      <p:sp>
        <p:nvSpPr>
          <p:cNvPr id="5" name="Header Placeholder 4"/>
          <p:cNvSpPr>
            <a:spLocks noGrp="1"/>
          </p:cNvSpPr>
          <p:nvPr>
            <p:ph type="hdr" sz="quarter" idx="11"/>
          </p:nvPr>
        </p:nvSpPr>
        <p:spPr/>
        <p:txBody>
          <a:bodyPr/>
          <a:lstStyle/>
          <a:p>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2779566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CF951E-0BAA-4E36-AA90-03BAA79777A1}" type="slidenum">
              <a:rPr lang="en-US" smtClean="0"/>
              <a:pPr/>
              <a:t>29</a:t>
            </a:fld>
            <a:endParaRPr lang="en-US"/>
          </a:p>
        </p:txBody>
      </p:sp>
      <p:sp>
        <p:nvSpPr>
          <p:cNvPr id="5" name="Header Placeholder 4"/>
          <p:cNvSpPr>
            <a:spLocks noGrp="1"/>
          </p:cNvSpPr>
          <p:nvPr>
            <p:ph type="hdr" sz="quarter" idx="11"/>
          </p:nvPr>
        </p:nvSpPr>
        <p:spPr/>
        <p:txBody>
          <a:bodyPr/>
          <a:lstStyle/>
          <a:p>
            <a:endParaRPr lang="en-US"/>
          </a:p>
        </p:txBody>
      </p:sp>
      <p:sp>
        <p:nvSpPr>
          <p:cNvPr id="6" name="Footer Placehold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8752149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CF951E-0BAA-4E36-AA90-03BAA79777A1}" type="slidenum">
              <a:rPr lang="en-US" smtClean="0"/>
              <a:pPr/>
              <a:t>30</a:t>
            </a:fld>
            <a:endParaRPr lang="en-US"/>
          </a:p>
        </p:txBody>
      </p:sp>
      <p:sp>
        <p:nvSpPr>
          <p:cNvPr id="5" name="Header Placeholder 4"/>
          <p:cNvSpPr>
            <a:spLocks noGrp="1"/>
          </p:cNvSpPr>
          <p:nvPr>
            <p:ph type="hdr" sz="quarter" idx="11"/>
          </p:nvPr>
        </p:nvSpPr>
        <p:spPr/>
        <p:txBody>
          <a:bodyPr/>
          <a:lstStyle/>
          <a:p>
            <a:endParaRPr lang="en-US"/>
          </a:p>
        </p:txBody>
      </p:sp>
      <p:sp>
        <p:nvSpPr>
          <p:cNvPr id="6" name="Footer Placeholder 5"/>
          <p:cNvSpPr>
            <a:spLocks noGrp="1"/>
          </p:cNvSpPr>
          <p:nvPr>
            <p:ph type="ftr" sz="quarter" idx="12"/>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Platshållare för bildobjekt 1"/>
          <p:cNvSpPr>
            <a:spLocks noGrp="1" noRot="1" noChangeAspect="1" noTextEdit="1"/>
          </p:cNvSpPr>
          <p:nvPr>
            <p:ph type="sldImg"/>
          </p:nvPr>
        </p:nvSpPr>
        <p:spPr bwMode="auto">
          <a:noFill/>
          <a:ln>
            <a:solidFill>
              <a:srgbClr val="000000"/>
            </a:solidFill>
            <a:miter lim="800000"/>
            <a:headEnd/>
            <a:tailEnd/>
          </a:ln>
        </p:spPr>
      </p:sp>
      <p:sp>
        <p:nvSpPr>
          <p:cNvPr id="30723" name="Platshållare för anteckninga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
        <p:nvSpPr>
          <p:cNvPr id="30724" name="Platshållare för bildnumm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9BFE85E-AE14-4F0F-AB75-522DE6ACF6D4}" type="slidenum">
              <a:rPr lang="sv-SE" smtClean="0"/>
              <a:pPr fontAlgn="base">
                <a:spcBef>
                  <a:spcPct val="0"/>
                </a:spcBef>
                <a:spcAft>
                  <a:spcPct val="0"/>
                </a:spcAft>
                <a:defRPr/>
              </a:pPr>
              <a:t>31</a:t>
            </a:fld>
            <a:endParaRPr lang="sv-SE"/>
          </a:p>
        </p:txBody>
      </p:sp>
      <p:sp>
        <p:nvSpPr>
          <p:cNvPr id="5" name="Header Placeholder 4"/>
          <p:cNvSpPr>
            <a:spLocks noGrp="1"/>
          </p:cNvSpPr>
          <p:nvPr>
            <p:ph type="hdr" sz="quarter"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88B7828-6BB5-4C44-A77D-FF73626E93A4}" type="datetime1">
              <a:rPr lang="en-US" smtClean="0"/>
              <a:pPr/>
              <a:t>7/5/2025</a:t>
            </a:fld>
            <a:endParaRPr lang="en-US"/>
          </a:p>
        </p:txBody>
      </p:sp>
      <p:sp>
        <p:nvSpPr>
          <p:cNvPr id="5" name="Footer Placeholder 4"/>
          <p:cNvSpPr>
            <a:spLocks noGrp="1"/>
          </p:cNvSpPr>
          <p:nvPr>
            <p:ph type="ftr" sz="quarter" idx="11"/>
          </p:nvPr>
        </p:nvSpPr>
        <p:spPr/>
        <p:txBody>
          <a:bodyPr/>
          <a:lstStyle/>
          <a:p>
            <a:r>
              <a:rPr lang="en-IN"/>
              <a:t>Dept. of CSE, SIT, Tumkur</a:t>
            </a:r>
            <a:endParaRPr lang="en-US"/>
          </a:p>
        </p:txBody>
      </p:sp>
      <p:sp>
        <p:nvSpPr>
          <p:cNvPr id="6" name="Slide Number Placeholder 5"/>
          <p:cNvSpPr>
            <a:spLocks noGrp="1"/>
          </p:cNvSpPr>
          <p:nvPr>
            <p:ph type="sldNum" sz="quarter" idx="12"/>
          </p:nvPr>
        </p:nvSpPr>
        <p:spPr/>
        <p:txBody>
          <a:bodyPr/>
          <a:lstStyle/>
          <a:p>
            <a:fld id="{DFFA8894-9BB9-4840-9552-2631AF7E8A18}" type="slidenum">
              <a:rPr lang="en-US" smtClean="0"/>
              <a:pPr/>
              <a:t>‹#›</a:t>
            </a:fld>
            <a:endParaRPr lang="en-US"/>
          </a:p>
        </p:txBody>
      </p:sp>
    </p:spTree>
    <p:extLst>
      <p:ext uri="{BB962C8B-B14F-4D97-AF65-F5344CB8AC3E}">
        <p14:creationId xmlns:p14="http://schemas.microsoft.com/office/powerpoint/2010/main" val="296357954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EBBF113-E29C-4762-B43B-1697F948C2DF}" type="datetime1">
              <a:rPr lang="en-US" smtClean="0"/>
              <a:pPr/>
              <a:t>7/5/2025</a:t>
            </a:fld>
            <a:endParaRPr lang="en-US"/>
          </a:p>
        </p:txBody>
      </p:sp>
      <p:sp>
        <p:nvSpPr>
          <p:cNvPr id="5" name="Footer Placeholder 4"/>
          <p:cNvSpPr>
            <a:spLocks noGrp="1"/>
          </p:cNvSpPr>
          <p:nvPr>
            <p:ph type="ftr" sz="quarter" idx="11"/>
          </p:nvPr>
        </p:nvSpPr>
        <p:spPr/>
        <p:txBody>
          <a:bodyPr/>
          <a:lstStyle/>
          <a:p>
            <a:r>
              <a:rPr lang="en-IN"/>
              <a:t>Dept. of CSE, SIT, Tumkur</a:t>
            </a:r>
            <a:endParaRPr lang="en-US"/>
          </a:p>
        </p:txBody>
      </p:sp>
      <p:sp>
        <p:nvSpPr>
          <p:cNvPr id="6" name="Slide Number Placeholder 5"/>
          <p:cNvSpPr>
            <a:spLocks noGrp="1"/>
          </p:cNvSpPr>
          <p:nvPr>
            <p:ph type="sldNum" sz="quarter" idx="12"/>
          </p:nvPr>
        </p:nvSpPr>
        <p:spPr/>
        <p:txBody>
          <a:bodyPr/>
          <a:lstStyle/>
          <a:p>
            <a:fld id="{DFFA8894-9BB9-4840-9552-2631AF7E8A18}" type="slidenum">
              <a:rPr lang="en-US" smtClean="0"/>
              <a:pPr/>
              <a:t>‹#›</a:t>
            </a:fld>
            <a:endParaRPr lang="en-US"/>
          </a:p>
        </p:txBody>
      </p:sp>
    </p:spTree>
    <p:extLst>
      <p:ext uri="{BB962C8B-B14F-4D97-AF65-F5344CB8AC3E}">
        <p14:creationId xmlns:p14="http://schemas.microsoft.com/office/powerpoint/2010/main" val="280981413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7226D2-B3F6-456B-841D-5CC09EB569B7}" type="datetime1">
              <a:rPr lang="en-US" smtClean="0"/>
              <a:pPr/>
              <a:t>7/5/2025</a:t>
            </a:fld>
            <a:endParaRPr lang="en-US"/>
          </a:p>
        </p:txBody>
      </p:sp>
      <p:sp>
        <p:nvSpPr>
          <p:cNvPr id="5" name="Footer Placeholder 4"/>
          <p:cNvSpPr>
            <a:spLocks noGrp="1"/>
          </p:cNvSpPr>
          <p:nvPr>
            <p:ph type="ftr" sz="quarter" idx="11"/>
          </p:nvPr>
        </p:nvSpPr>
        <p:spPr/>
        <p:txBody>
          <a:bodyPr/>
          <a:lstStyle/>
          <a:p>
            <a:r>
              <a:rPr lang="en-IN"/>
              <a:t>Dept. of CSE, SIT, Tumkur</a:t>
            </a:r>
            <a:endParaRPr lang="en-US"/>
          </a:p>
        </p:txBody>
      </p:sp>
      <p:sp>
        <p:nvSpPr>
          <p:cNvPr id="6" name="Slide Number Placeholder 5"/>
          <p:cNvSpPr>
            <a:spLocks noGrp="1"/>
          </p:cNvSpPr>
          <p:nvPr>
            <p:ph type="sldNum" sz="quarter" idx="12"/>
          </p:nvPr>
        </p:nvSpPr>
        <p:spPr/>
        <p:txBody>
          <a:bodyPr/>
          <a:lstStyle/>
          <a:p>
            <a:fld id="{DFFA8894-9BB9-4840-9552-2631AF7E8A18}" type="slidenum">
              <a:rPr lang="en-US" smtClean="0"/>
              <a:pPr/>
              <a:t>‹#›</a:t>
            </a:fld>
            <a:endParaRPr lang="en-US"/>
          </a:p>
        </p:txBody>
      </p:sp>
    </p:spTree>
    <p:extLst>
      <p:ext uri="{BB962C8B-B14F-4D97-AF65-F5344CB8AC3E}">
        <p14:creationId xmlns:p14="http://schemas.microsoft.com/office/powerpoint/2010/main" val="85156822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F67AB88-BC9D-498B-B24F-BA5CB70F0AB9}" type="datetime1">
              <a:rPr lang="en-US" smtClean="0"/>
              <a:pPr/>
              <a:t>7/5/2025</a:t>
            </a:fld>
            <a:endParaRPr lang="en-US"/>
          </a:p>
        </p:txBody>
      </p:sp>
      <p:sp>
        <p:nvSpPr>
          <p:cNvPr id="6" name="Footer Placeholder 5"/>
          <p:cNvSpPr>
            <a:spLocks noGrp="1"/>
          </p:cNvSpPr>
          <p:nvPr>
            <p:ph type="ftr" sz="quarter" idx="11"/>
          </p:nvPr>
        </p:nvSpPr>
        <p:spPr/>
        <p:txBody>
          <a:bodyPr/>
          <a:lstStyle/>
          <a:p>
            <a:r>
              <a:rPr lang="en-IN"/>
              <a:t>Dept. of CSE, SIT, Tumkur</a:t>
            </a:r>
            <a:endParaRPr lang="en-US"/>
          </a:p>
        </p:txBody>
      </p:sp>
      <p:sp>
        <p:nvSpPr>
          <p:cNvPr id="7" name="Slide Number Placeholder 6"/>
          <p:cNvSpPr>
            <a:spLocks noGrp="1"/>
          </p:cNvSpPr>
          <p:nvPr>
            <p:ph type="sldNum" sz="quarter" idx="12"/>
          </p:nvPr>
        </p:nvSpPr>
        <p:spPr/>
        <p:txBody>
          <a:bodyPr/>
          <a:lstStyle/>
          <a:p>
            <a:fld id="{DFFA8894-9BB9-4840-9552-2631AF7E8A18}" type="slidenum">
              <a:rPr lang="en-US" smtClean="0"/>
              <a:pPr/>
              <a:t>‹#›</a:t>
            </a:fld>
            <a:endParaRPr lang="en-US"/>
          </a:p>
        </p:txBody>
      </p:sp>
    </p:spTree>
    <p:extLst>
      <p:ext uri="{BB962C8B-B14F-4D97-AF65-F5344CB8AC3E}">
        <p14:creationId xmlns:p14="http://schemas.microsoft.com/office/powerpoint/2010/main" val="154465388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32F38A0-B606-429A-9704-002F0F3F66F7}" type="datetime1">
              <a:rPr lang="en-US" smtClean="0"/>
              <a:pPr/>
              <a:t>7/5/2025</a:t>
            </a:fld>
            <a:endParaRPr lang="en-US"/>
          </a:p>
        </p:txBody>
      </p:sp>
      <p:sp>
        <p:nvSpPr>
          <p:cNvPr id="8" name="Footer Placeholder 7"/>
          <p:cNvSpPr>
            <a:spLocks noGrp="1"/>
          </p:cNvSpPr>
          <p:nvPr>
            <p:ph type="ftr" sz="quarter" idx="11"/>
          </p:nvPr>
        </p:nvSpPr>
        <p:spPr/>
        <p:txBody>
          <a:bodyPr/>
          <a:lstStyle/>
          <a:p>
            <a:r>
              <a:rPr lang="en-IN"/>
              <a:t>Dept. of CSE, SIT, Tumkur</a:t>
            </a:r>
            <a:endParaRPr lang="en-US"/>
          </a:p>
        </p:txBody>
      </p:sp>
      <p:sp>
        <p:nvSpPr>
          <p:cNvPr id="9" name="Slide Number Placeholder 8"/>
          <p:cNvSpPr>
            <a:spLocks noGrp="1"/>
          </p:cNvSpPr>
          <p:nvPr>
            <p:ph type="sldNum" sz="quarter" idx="12"/>
          </p:nvPr>
        </p:nvSpPr>
        <p:spPr/>
        <p:txBody>
          <a:bodyPr/>
          <a:lstStyle/>
          <a:p>
            <a:fld id="{DFFA8894-9BB9-4840-9552-2631AF7E8A18}" type="slidenum">
              <a:rPr lang="en-US" smtClean="0"/>
              <a:pPr/>
              <a:t>‹#›</a:t>
            </a:fld>
            <a:endParaRPr lang="en-US"/>
          </a:p>
        </p:txBody>
      </p:sp>
    </p:spTree>
    <p:extLst>
      <p:ext uri="{BB962C8B-B14F-4D97-AF65-F5344CB8AC3E}">
        <p14:creationId xmlns:p14="http://schemas.microsoft.com/office/powerpoint/2010/main" val="48930997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38ABE8F-535A-4223-B50F-933E06838EB3}" type="datetime1">
              <a:rPr lang="en-US" smtClean="0"/>
              <a:pPr/>
              <a:t>7/5/2025</a:t>
            </a:fld>
            <a:endParaRPr lang="en-US"/>
          </a:p>
        </p:txBody>
      </p:sp>
      <p:sp>
        <p:nvSpPr>
          <p:cNvPr id="4" name="Footer Placeholder 3"/>
          <p:cNvSpPr>
            <a:spLocks noGrp="1"/>
          </p:cNvSpPr>
          <p:nvPr>
            <p:ph type="ftr" sz="quarter" idx="11"/>
          </p:nvPr>
        </p:nvSpPr>
        <p:spPr/>
        <p:txBody>
          <a:bodyPr/>
          <a:lstStyle/>
          <a:p>
            <a:r>
              <a:rPr lang="en-IN"/>
              <a:t>Dept. of CSE, SIT, Tumkur</a:t>
            </a:r>
            <a:endParaRPr lang="en-US"/>
          </a:p>
        </p:txBody>
      </p:sp>
      <p:sp>
        <p:nvSpPr>
          <p:cNvPr id="5" name="Slide Number Placeholder 4"/>
          <p:cNvSpPr>
            <a:spLocks noGrp="1"/>
          </p:cNvSpPr>
          <p:nvPr>
            <p:ph type="sldNum" sz="quarter" idx="12"/>
          </p:nvPr>
        </p:nvSpPr>
        <p:spPr/>
        <p:txBody>
          <a:bodyPr/>
          <a:lstStyle/>
          <a:p>
            <a:fld id="{DFFA8894-9BB9-4840-9552-2631AF7E8A18}" type="slidenum">
              <a:rPr lang="en-US" smtClean="0"/>
              <a:pPr/>
              <a:t>‹#›</a:t>
            </a:fld>
            <a:endParaRPr lang="en-US"/>
          </a:p>
        </p:txBody>
      </p:sp>
    </p:spTree>
    <p:extLst>
      <p:ext uri="{BB962C8B-B14F-4D97-AF65-F5344CB8AC3E}">
        <p14:creationId xmlns:p14="http://schemas.microsoft.com/office/powerpoint/2010/main" val="223326197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204A08-4B8E-4F96-AC30-064FF3AF3B57}" type="datetime1">
              <a:rPr lang="en-US" smtClean="0"/>
              <a:pPr/>
              <a:t>7/5/2025</a:t>
            </a:fld>
            <a:endParaRPr lang="en-US"/>
          </a:p>
        </p:txBody>
      </p:sp>
      <p:sp>
        <p:nvSpPr>
          <p:cNvPr id="3" name="Footer Placeholder 2"/>
          <p:cNvSpPr>
            <a:spLocks noGrp="1"/>
          </p:cNvSpPr>
          <p:nvPr>
            <p:ph type="ftr" sz="quarter" idx="11"/>
          </p:nvPr>
        </p:nvSpPr>
        <p:spPr/>
        <p:txBody>
          <a:bodyPr/>
          <a:lstStyle/>
          <a:p>
            <a:r>
              <a:rPr lang="en-IN"/>
              <a:t>Dept. of CSE, SIT, Tumkur</a:t>
            </a:r>
            <a:endParaRPr lang="en-US"/>
          </a:p>
        </p:txBody>
      </p:sp>
      <p:sp>
        <p:nvSpPr>
          <p:cNvPr id="4" name="Slide Number Placeholder 3"/>
          <p:cNvSpPr>
            <a:spLocks noGrp="1"/>
          </p:cNvSpPr>
          <p:nvPr>
            <p:ph type="sldNum" sz="quarter" idx="12"/>
          </p:nvPr>
        </p:nvSpPr>
        <p:spPr/>
        <p:txBody>
          <a:bodyPr/>
          <a:lstStyle/>
          <a:p>
            <a:fld id="{DFFA8894-9BB9-4840-9552-2631AF7E8A18}" type="slidenum">
              <a:rPr lang="en-US" smtClean="0"/>
              <a:pPr/>
              <a:t>‹#›</a:t>
            </a:fld>
            <a:endParaRPr lang="en-US"/>
          </a:p>
        </p:txBody>
      </p:sp>
    </p:spTree>
    <p:extLst>
      <p:ext uri="{BB962C8B-B14F-4D97-AF65-F5344CB8AC3E}">
        <p14:creationId xmlns:p14="http://schemas.microsoft.com/office/powerpoint/2010/main" val="39659409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24BA4F-E70D-44BA-8052-F316309A3906}" type="datetime1">
              <a:rPr lang="en-US" smtClean="0"/>
              <a:pPr/>
              <a:t>7/5/2025</a:t>
            </a:fld>
            <a:endParaRPr lang="en-US"/>
          </a:p>
        </p:txBody>
      </p:sp>
      <p:sp>
        <p:nvSpPr>
          <p:cNvPr id="6" name="Footer Placeholder 5"/>
          <p:cNvSpPr>
            <a:spLocks noGrp="1"/>
          </p:cNvSpPr>
          <p:nvPr>
            <p:ph type="ftr" sz="quarter" idx="11"/>
          </p:nvPr>
        </p:nvSpPr>
        <p:spPr/>
        <p:txBody>
          <a:bodyPr/>
          <a:lstStyle/>
          <a:p>
            <a:r>
              <a:rPr lang="en-IN"/>
              <a:t>Dept. of CSE, SIT, Tumkur</a:t>
            </a:r>
            <a:endParaRPr lang="en-US"/>
          </a:p>
        </p:txBody>
      </p:sp>
      <p:sp>
        <p:nvSpPr>
          <p:cNvPr id="7" name="Slide Number Placeholder 6"/>
          <p:cNvSpPr>
            <a:spLocks noGrp="1"/>
          </p:cNvSpPr>
          <p:nvPr>
            <p:ph type="sldNum" sz="quarter" idx="12"/>
          </p:nvPr>
        </p:nvSpPr>
        <p:spPr/>
        <p:txBody>
          <a:bodyPr/>
          <a:lstStyle/>
          <a:p>
            <a:fld id="{DFFA8894-9BB9-4840-9552-2631AF7E8A18}" type="slidenum">
              <a:rPr lang="en-US" smtClean="0"/>
              <a:pPr/>
              <a:t>‹#›</a:t>
            </a:fld>
            <a:endParaRPr lang="en-US"/>
          </a:p>
        </p:txBody>
      </p:sp>
    </p:spTree>
    <p:extLst>
      <p:ext uri="{BB962C8B-B14F-4D97-AF65-F5344CB8AC3E}">
        <p14:creationId xmlns:p14="http://schemas.microsoft.com/office/powerpoint/2010/main" val="105016503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DBEDDE-4244-46FF-BAB7-ED9FEF0A0858}" type="datetime1">
              <a:rPr lang="en-US" smtClean="0"/>
              <a:pPr/>
              <a:t>7/5/2025</a:t>
            </a:fld>
            <a:endParaRPr lang="en-US"/>
          </a:p>
        </p:txBody>
      </p:sp>
      <p:sp>
        <p:nvSpPr>
          <p:cNvPr id="6" name="Footer Placeholder 5"/>
          <p:cNvSpPr>
            <a:spLocks noGrp="1"/>
          </p:cNvSpPr>
          <p:nvPr>
            <p:ph type="ftr" sz="quarter" idx="11"/>
          </p:nvPr>
        </p:nvSpPr>
        <p:spPr/>
        <p:txBody>
          <a:bodyPr/>
          <a:lstStyle/>
          <a:p>
            <a:r>
              <a:rPr lang="en-IN"/>
              <a:t>Dept. of CSE, SIT, Tumkur</a:t>
            </a:r>
            <a:endParaRPr lang="en-US"/>
          </a:p>
        </p:txBody>
      </p:sp>
      <p:sp>
        <p:nvSpPr>
          <p:cNvPr id="7" name="Slide Number Placeholder 6"/>
          <p:cNvSpPr>
            <a:spLocks noGrp="1"/>
          </p:cNvSpPr>
          <p:nvPr>
            <p:ph type="sldNum" sz="quarter" idx="12"/>
          </p:nvPr>
        </p:nvSpPr>
        <p:spPr/>
        <p:txBody>
          <a:bodyPr/>
          <a:lstStyle/>
          <a:p>
            <a:fld id="{DFFA8894-9BB9-4840-9552-2631AF7E8A18}" type="slidenum">
              <a:rPr lang="en-US" smtClean="0"/>
              <a:pPr/>
              <a:t>‹#›</a:t>
            </a:fld>
            <a:endParaRPr lang="en-US"/>
          </a:p>
        </p:txBody>
      </p:sp>
    </p:spTree>
    <p:extLst>
      <p:ext uri="{BB962C8B-B14F-4D97-AF65-F5344CB8AC3E}">
        <p14:creationId xmlns:p14="http://schemas.microsoft.com/office/powerpoint/2010/main" val="12632758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84D7EEF-E0E6-43BA-8E4F-BBEE05DE3D7C}" type="datetime1">
              <a:rPr lang="en-US" smtClean="0"/>
              <a:pPr/>
              <a:t>7/5/2025</a:t>
            </a:fld>
            <a:endParaRPr lang="en-US"/>
          </a:p>
        </p:txBody>
      </p:sp>
      <p:sp>
        <p:nvSpPr>
          <p:cNvPr id="5" name="Footer Placeholder 4"/>
          <p:cNvSpPr>
            <a:spLocks noGrp="1"/>
          </p:cNvSpPr>
          <p:nvPr>
            <p:ph type="ftr" sz="quarter" idx="11"/>
          </p:nvPr>
        </p:nvSpPr>
        <p:spPr/>
        <p:txBody>
          <a:bodyPr/>
          <a:lstStyle/>
          <a:p>
            <a:r>
              <a:rPr lang="en-IN"/>
              <a:t>Dept. of CSE, SIT, Tumkur</a:t>
            </a:r>
            <a:endParaRPr lang="en-US"/>
          </a:p>
        </p:txBody>
      </p:sp>
      <p:sp>
        <p:nvSpPr>
          <p:cNvPr id="6" name="Slide Number Placeholder 5"/>
          <p:cNvSpPr>
            <a:spLocks noGrp="1"/>
          </p:cNvSpPr>
          <p:nvPr>
            <p:ph type="sldNum" sz="quarter" idx="12"/>
          </p:nvPr>
        </p:nvSpPr>
        <p:spPr/>
        <p:txBody>
          <a:bodyPr/>
          <a:lstStyle/>
          <a:p>
            <a:fld id="{DFFA8894-9BB9-4840-9552-2631AF7E8A18}" type="slidenum">
              <a:rPr lang="en-US" smtClean="0"/>
              <a:pPr/>
              <a:t>‹#›</a:t>
            </a:fld>
            <a:endParaRPr lang="en-US"/>
          </a:p>
        </p:txBody>
      </p:sp>
    </p:spTree>
    <p:extLst>
      <p:ext uri="{BB962C8B-B14F-4D97-AF65-F5344CB8AC3E}">
        <p14:creationId xmlns:p14="http://schemas.microsoft.com/office/powerpoint/2010/main" val="22311648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4B9D393-459D-4785-8666-B242BA0F7EF7}" type="datetime1">
              <a:rPr lang="en-US" smtClean="0"/>
              <a:pPr/>
              <a:t>7/5/2025</a:t>
            </a:fld>
            <a:endParaRPr lang="en-US"/>
          </a:p>
        </p:txBody>
      </p:sp>
      <p:sp>
        <p:nvSpPr>
          <p:cNvPr id="5" name="Footer Placeholder 4"/>
          <p:cNvSpPr>
            <a:spLocks noGrp="1"/>
          </p:cNvSpPr>
          <p:nvPr>
            <p:ph type="ftr" sz="quarter" idx="11"/>
          </p:nvPr>
        </p:nvSpPr>
        <p:spPr/>
        <p:txBody>
          <a:bodyPr/>
          <a:lstStyle/>
          <a:p>
            <a:r>
              <a:rPr lang="en-IN"/>
              <a:t>Dept. of CSE, SIT, Tumkur</a:t>
            </a:r>
            <a:endParaRPr lang="en-US"/>
          </a:p>
        </p:txBody>
      </p:sp>
      <p:sp>
        <p:nvSpPr>
          <p:cNvPr id="6" name="Slide Number Placeholder 5"/>
          <p:cNvSpPr>
            <a:spLocks noGrp="1"/>
          </p:cNvSpPr>
          <p:nvPr>
            <p:ph type="sldNum" sz="quarter" idx="12"/>
          </p:nvPr>
        </p:nvSpPr>
        <p:spPr/>
        <p:txBody>
          <a:bodyPr/>
          <a:lstStyle/>
          <a:p>
            <a:fld id="{DFFA8894-9BB9-4840-9552-2631AF7E8A18}" type="slidenum">
              <a:rPr lang="en-US" smtClean="0"/>
              <a:pPr/>
              <a:t>‹#›</a:t>
            </a:fld>
            <a:endParaRPr lang="en-US"/>
          </a:p>
        </p:txBody>
      </p:sp>
    </p:spTree>
    <p:extLst>
      <p:ext uri="{BB962C8B-B14F-4D97-AF65-F5344CB8AC3E}">
        <p14:creationId xmlns:p14="http://schemas.microsoft.com/office/powerpoint/2010/main" val="308232321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790F4B-4688-4BC7-9E91-3A3A94052E6E}" type="datetime1">
              <a:rPr lang="en-US" smtClean="0">
                <a:solidFill>
                  <a:prstClr val="black">
                    <a:tint val="75000"/>
                  </a:prstClr>
                </a:solidFill>
              </a:rPr>
              <a:pPr/>
              <a:t>7/5/2025</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solidFill>
                  <a:prstClr val="black">
                    <a:tint val="75000"/>
                  </a:prstClr>
                </a:solidFill>
              </a:rPr>
              <a:t>Dept. of CSE, SIT, Tumkur</a:t>
            </a: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FA8894-9BB9-4840-9552-2631AF7E8A1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11600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399" y="1065236"/>
            <a:ext cx="8153399" cy="2686632"/>
          </a:xfrm>
        </p:spPr>
        <p:txBody>
          <a:bodyPr>
            <a:normAutofit fontScale="90000"/>
          </a:bodyPr>
          <a:lstStyle/>
          <a:p>
            <a:br>
              <a:rPr lang="en-US" sz="2700" dirty="0">
                <a:latin typeface="Book Antiqua" pitchFamily="18" charset="0"/>
              </a:rPr>
            </a:br>
            <a:br>
              <a:rPr lang="en-US" sz="2700" dirty="0">
                <a:latin typeface="Book Antiqua" pitchFamily="18" charset="0"/>
              </a:rPr>
            </a:br>
            <a:r>
              <a:rPr lang="en-US" sz="2700" dirty="0">
                <a:latin typeface="Times New Roman" panose="02020603050405020304" pitchFamily="18" charset="0"/>
                <a:cs typeface="Times New Roman" panose="02020603050405020304" pitchFamily="18" charset="0"/>
              </a:rPr>
              <a:t>Mini Project Final Review Presentation </a:t>
            </a:r>
            <a:br>
              <a:rPr lang="en-US" sz="27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on</a:t>
            </a:r>
            <a:br>
              <a:rPr lang="en-US" sz="2200" b="1" dirty="0">
                <a:latin typeface="Book Antiqua" pitchFamily="18" charset="0"/>
              </a:rPr>
            </a:br>
            <a:r>
              <a:rPr lang="en-US" sz="2900" b="1" dirty="0">
                <a:solidFill>
                  <a:schemeClr val="accent6"/>
                </a:solidFill>
                <a:latin typeface="Times New Roman" panose="02020603050405020304" pitchFamily="18" charset="0"/>
                <a:cs typeface="Times New Roman" panose="02020603050405020304" pitchFamily="18" charset="0"/>
              </a:rPr>
              <a:t>Detection of Legitimate Transaction using ML Approach </a:t>
            </a:r>
            <a:br>
              <a:rPr lang="en-US" sz="3100" b="1" dirty="0">
                <a:latin typeface="Book Antiqua" pitchFamily="18" charset="0"/>
              </a:rPr>
            </a:br>
            <a:br>
              <a:rPr lang="en-US" sz="2200" b="1" dirty="0">
                <a:latin typeface="Book Antiqua" pitchFamily="18" charset="0"/>
              </a:rPr>
            </a:br>
            <a:endParaRPr lang="en-US" sz="3100" b="1" dirty="0">
              <a:latin typeface="Book Antiqua" pitchFamily="18" charset="0"/>
            </a:endParaRPr>
          </a:p>
        </p:txBody>
      </p:sp>
      <p:sp>
        <p:nvSpPr>
          <p:cNvPr id="3" name="Subtitle 2"/>
          <p:cNvSpPr>
            <a:spLocks noGrp="1"/>
          </p:cNvSpPr>
          <p:nvPr>
            <p:ph type="subTitle" idx="1"/>
          </p:nvPr>
        </p:nvSpPr>
        <p:spPr>
          <a:xfrm>
            <a:off x="5049520" y="5435600"/>
            <a:ext cx="3726836" cy="1041399"/>
          </a:xfrm>
        </p:spPr>
        <p:txBody>
          <a:bodyPr>
            <a:noAutofit/>
          </a:bodyPr>
          <a:lstStyle/>
          <a:p>
            <a:pPr algn="l"/>
            <a:r>
              <a:rPr lang="en-US" sz="2000" dirty="0">
                <a:solidFill>
                  <a:schemeClr val="tx1"/>
                </a:solidFill>
                <a:latin typeface="Times New Roman" panose="02020603050405020304" pitchFamily="18" charset="0"/>
                <a:cs typeface="Times New Roman" panose="02020603050405020304" pitchFamily="18" charset="0"/>
              </a:rPr>
              <a:t>By</a:t>
            </a:r>
          </a:p>
          <a:p>
            <a:pPr algn="l">
              <a:spcBef>
                <a:spcPts val="0"/>
              </a:spcBef>
            </a:pPr>
            <a:r>
              <a:rPr lang="en-IN" sz="1800" b="1" dirty="0">
                <a:solidFill>
                  <a:schemeClr val="tx1"/>
                </a:solidFill>
                <a:latin typeface="Times New Roman" panose="02020603050405020304" pitchFamily="18" charset="0"/>
                <a:cs typeface="Times New Roman" panose="02020603050405020304" pitchFamily="18" charset="0"/>
              </a:rPr>
              <a:t>Manoj Gowda B G : 1SI20IS026</a:t>
            </a:r>
            <a:endParaRPr lang="en-US" sz="1800" b="1" dirty="0">
              <a:solidFill>
                <a:schemeClr val="tx1"/>
              </a:solidFill>
              <a:latin typeface="Times New Roman" panose="02020603050405020304" pitchFamily="18" charset="0"/>
              <a:cs typeface="Times New Roman" panose="02020603050405020304" pitchFamily="18" charset="0"/>
            </a:endParaRPr>
          </a:p>
          <a:p>
            <a:pPr algn="l">
              <a:spcBef>
                <a:spcPts val="0"/>
              </a:spcBef>
            </a:pPr>
            <a:endParaRPr lang="en-US" sz="2000" b="1" dirty="0">
              <a:solidFill>
                <a:schemeClr val="tx1"/>
              </a:solidFill>
              <a:latin typeface="Bookman Old Style" pitchFamily="18" charset="0"/>
            </a:endParaRPr>
          </a:p>
          <a:p>
            <a:pPr algn="l">
              <a:spcBef>
                <a:spcPts val="0"/>
              </a:spcBef>
            </a:pPr>
            <a:endParaRPr lang="en-US" sz="2000" b="1" dirty="0">
              <a:solidFill>
                <a:schemeClr val="tx1"/>
              </a:solidFill>
              <a:latin typeface="Bookman Old Style" pitchFamily="18" charset="0"/>
            </a:endParaRPr>
          </a:p>
        </p:txBody>
      </p:sp>
      <p:sp>
        <p:nvSpPr>
          <p:cNvPr id="8" name="Text Box 9"/>
          <p:cNvSpPr txBox="1">
            <a:spLocks noChangeArrowheads="1"/>
          </p:cNvSpPr>
          <p:nvPr/>
        </p:nvSpPr>
        <p:spPr bwMode="auto">
          <a:xfrm>
            <a:off x="533399" y="3429000"/>
            <a:ext cx="4953000" cy="1723549"/>
          </a:xfrm>
          <a:prstGeom prst="rect">
            <a:avLst/>
          </a:prstGeom>
          <a:noFill/>
          <a:ln w="9525">
            <a:noFill/>
            <a:miter lim="800000"/>
            <a:headEnd/>
            <a:tailEnd/>
          </a:ln>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Under the guidance of</a:t>
            </a:r>
          </a:p>
          <a:p>
            <a:r>
              <a:rPr lang="en-US" sz="2000" b="1" dirty="0">
                <a:latin typeface="Times New Roman" panose="02020603050405020304" pitchFamily="18" charset="0"/>
                <a:cs typeface="Times New Roman" panose="02020603050405020304" pitchFamily="18" charset="0"/>
              </a:rPr>
              <a:t>Ms. </a:t>
            </a:r>
            <a:r>
              <a:rPr lang="en-US" sz="2000" b="1" dirty="0" err="1">
                <a:latin typeface="Times New Roman" panose="02020603050405020304" pitchFamily="18" charset="0"/>
                <a:cs typeface="Times New Roman" panose="02020603050405020304" pitchFamily="18" charset="0"/>
              </a:rPr>
              <a:t>Vishala</a:t>
            </a:r>
            <a:r>
              <a:rPr lang="en-US" sz="2000" b="1" dirty="0">
                <a:latin typeface="Times New Roman" panose="02020603050405020304" pitchFamily="18" charset="0"/>
                <a:cs typeface="Times New Roman" panose="02020603050405020304" pitchFamily="18" charset="0"/>
              </a:rPr>
              <a:t> G</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Assistant Professor</a:t>
            </a:r>
          </a:p>
          <a:p>
            <a:r>
              <a:rPr lang="en-US" sz="1600" dirty="0">
                <a:latin typeface="Times New Roman" panose="02020603050405020304" pitchFamily="18" charset="0"/>
                <a:cs typeface="Times New Roman" panose="02020603050405020304" pitchFamily="18" charset="0"/>
              </a:rPr>
              <a:t>Dept. of ISE, SIT, </a:t>
            </a:r>
            <a:r>
              <a:rPr lang="en-US" sz="1600" dirty="0" err="1">
                <a:latin typeface="Times New Roman" panose="02020603050405020304" pitchFamily="18" charset="0"/>
                <a:cs typeface="Times New Roman" panose="02020603050405020304" pitchFamily="18" charset="0"/>
              </a:rPr>
              <a:t>Tumakuru</a:t>
            </a:r>
            <a:r>
              <a:rPr lang="en-US" sz="16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p:txBody>
      </p:sp>
      <p:cxnSp>
        <p:nvCxnSpPr>
          <p:cNvPr id="10" name="Straight Connector 9"/>
          <p:cNvCxnSpPr/>
          <p:nvPr/>
        </p:nvCxnSpPr>
        <p:spPr>
          <a:xfrm>
            <a:off x="533400" y="4953000"/>
            <a:ext cx="8153400" cy="0"/>
          </a:xfrm>
          <a:prstGeom prst="line">
            <a:avLst/>
          </a:prstGeom>
          <a:ln/>
        </p:spPr>
        <p:style>
          <a:lnRef idx="3">
            <a:schemeClr val="accent6"/>
          </a:lnRef>
          <a:fillRef idx="0">
            <a:schemeClr val="accent6"/>
          </a:fillRef>
          <a:effectRef idx="2">
            <a:schemeClr val="accent6"/>
          </a:effectRef>
          <a:fontRef idx="minor">
            <a:schemeClr val="tx1"/>
          </a:fontRef>
        </p:style>
      </p:cxnSp>
      <p:sp>
        <p:nvSpPr>
          <p:cNvPr id="4" name="Rectangle 3">
            <a:extLst>
              <a:ext uri="{FF2B5EF4-FFF2-40B4-BE49-F238E27FC236}">
                <a16:creationId xmlns:a16="http://schemas.microsoft.com/office/drawing/2014/main" id="{BCA45F14-825D-AFD9-1689-01E14E8270B8}"/>
              </a:ext>
            </a:extLst>
          </p:cNvPr>
          <p:cNvSpPr/>
          <p:nvPr/>
        </p:nvSpPr>
        <p:spPr>
          <a:xfrm>
            <a:off x="0" y="0"/>
            <a:ext cx="9144000" cy="1371592"/>
          </a:xfrm>
          <a:prstGeom prst="rect">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lang="sv-SE" sz="1800" b="1" dirty="0">
                <a:latin typeface="Times New Roman" panose="02020603050405020304" pitchFamily="18" charset="0"/>
                <a:cs typeface="Times New Roman" panose="02020603050405020304" pitchFamily="18" charset="0"/>
              </a:rPr>
              <a:t>SI</a:t>
            </a:r>
            <a:r>
              <a:rPr kumimoji="0" lang="sv-SE" sz="18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DDAGANGA INSTITUTE OF TECHNOLOGY, </a:t>
            </a:r>
            <a:r>
              <a:rPr kumimoji="0" lang="sv-SE" b="1" i="0" u="none" strike="noStrike" kern="1200" cap="none" spc="0" normalizeH="0" noProof="0" dirty="0">
                <a:ln>
                  <a:noFill/>
                </a:ln>
                <a:effectLst/>
                <a:uLnTx/>
                <a:uFillTx/>
                <a:latin typeface="Times New Roman" panose="02020603050405020304" pitchFamily="18" charset="0"/>
                <a:cs typeface="Times New Roman" panose="02020603050405020304" pitchFamily="18" charset="0"/>
              </a:rPr>
              <a:t> TUMKUR</a:t>
            </a:r>
          </a:p>
          <a:p>
            <a:pPr marL="0" marR="0" lvl="0" indent="0" algn="ctr" defTabSz="914400" rtl="0" eaLnBrk="1" fontAlgn="auto" latinLnBrk="0" hangingPunct="1">
              <a:lnSpc>
                <a:spcPct val="100000"/>
              </a:lnSpc>
              <a:spcBef>
                <a:spcPct val="0"/>
              </a:spcBef>
              <a:spcAft>
                <a:spcPts val="0"/>
              </a:spcAft>
              <a:buClrTx/>
              <a:buSzTx/>
              <a:buFontTx/>
              <a:buNone/>
              <a:tabLst/>
              <a:defRPr/>
            </a:pPr>
            <a:r>
              <a:rPr lang="sv-SE" b="1" baseline="0" dirty="0">
                <a:latin typeface="Times New Roman" panose="02020603050405020304" pitchFamily="18" charset="0"/>
                <a:cs typeface="Times New Roman" panose="02020603050405020304" pitchFamily="18" charset="0"/>
              </a:rPr>
              <a:t>                 </a:t>
            </a:r>
            <a:r>
              <a:rPr lang="sv-SE" sz="1800" b="1" baseline="0" dirty="0">
                <a:latin typeface="Times New Roman" panose="02020603050405020304" pitchFamily="18" charset="0"/>
                <a:cs typeface="Times New Roman" panose="02020603050405020304" pitchFamily="18" charset="0"/>
              </a:rPr>
              <a:t>Department of Infromation Science and Engineering</a:t>
            </a:r>
            <a:endParaRPr kumimoji="0" lang="en-US" sz="18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p:txBody>
      </p:sp>
      <p:pic>
        <p:nvPicPr>
          <p:cNvPr id="9" name="Picture 1" descr="C:\Users\Administrator\Desktop\Comp\Ubi-Cam\Ubi-Cam\ic_launcher-web.png"/>
          <p:cNvPicPr>
            <a:picLocks noChangeAspect="1" noChangeArrowheads="1"/>
          </p:cNvPicPr>
          <p:nvPr/>
        </p:nvPicPr>
        <p:blipFill>
          <a:blip r:embed="rId3" cstate="print"/>
          <a:srcRect/>
          <a:stretch>
            <a:fillRect/>
          </a:stretch>
        </p:blipFill>
        <p:spPr bwMode="auto">
          <a:xfrm>
            <a:off x="0" y="0"/>
            <a:ext cx="1344968" cy="13716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5082" y="159220"/>
            <a:ext cx="8229600" cy="954424"/>
          </a:xfrm>
        </p:spPr>
        <p:txBody>
          <a:bodyPr>
            <a:noAutofit/>
          </a:bodyPr>
          <a:lstStyle/>
          <a:p>
            <a:r>
              <a:rPr lang="en-US" sz="3200" b="1" u="sng" dirty="0">
                <a:latin typeface="Times New Roman" panose="02020603050405020304" pitchFamily="18" charset="0"/>
                <a:cs typeface="Times New Roman" panose="02020603050405020304" pitchFamily="18" charset="0"/>
              </a:rPr>
              <a:t>OUTLINE</a:t>
            </a:r>
          </a:p>
        </p:txBody>
      </p:sp>
      <p:sp>
        <p:nvSpPr>
          <p:cNvPr id="3" name="Content Placeholder 2"/>
          <p:cNvSpPr>
            <a:spLocks noGrp="1"/>
          </p:cNvSpPr>
          <p:nvPr>
            <p:ph idx="1"/>
          </p:nvPr>
        </p:nvSpPr>
        <p:spPr>
          <a:xfrm>
            <a:off x="609600" y="998588"/>
            <a:ext cx="8077200" cy="4663973"/>
          </a:xfrm>
        </p:spPr>
        <p:txBody>
          <a:bodyPr>
            <a:noAutofit/>
          </a:bodyPr>
          <a:lstStyle/>
          <a:p>
            <a:pPr>
              <a:spcBef>
                <a:spcPts val="0"/>
              </a:spcBef>
            </a:pPr>
            <a:r>
              <a:rPr lang="en-US" sz="1800" b="1" dirty="0">
                <a:solidFill>
                  <a:srgbClr val="002060"/>
                </a:solidFill>
                <a:latin typeface="Times New Roman" panose="02020603050405020304" pitchFamily="18" charset="0"/>
                <a:cs typeface="Times New Roman" panose="02020603050405020304" pitchFamily="18" charset="0"/>
              </a:rPr>
              <a:t>Introduction</a:t>
            </a:r>
          </a:p>
          <a:p>
            <a:pPr>
              <a:spcBef>
                <a:spcPts val="0"/>
              </a:spcBef>
            </a:pPr>
            <a:r>
              <a:rPr lang="en-US" sz="1800" b="1" dirty="0">
                <a:solidFill>
                  <a:srgbClr val="002060"/>
                </a:solidFill>
                <a:latin typeface="Times New Roman" panose="02020603050405020304" pitchFamily="18" charset="0"/>
                <a:cs typeface="Times New Roman" panose="02020603050405020304" pitchFamily="18" charset="0"/>
              </a:rPr>
              <a:t>Problem statement</a:t>
            </a:r>
          </a:p>
          <a:p>
            <a:r>
              <a:rPr lang="en-US" sz="1800" b="1" dirty="0">
                <a:solidFill>
                  <a:srgbClr val="002060"/>
                </a:solidFill>
                <a:latin typeface="Times New Roman" panose="02020603050405020304" pitchFamily="18" charset="0"/>
                <a:cs typeface="Times New Roman" panose="02020603050405020304" pitchFamily="18" charset="0"/>
              </a:rPr>
              <a:t>Objectives</a:t>
            </a:r>
          </a:p>
          <a:p>
            <a:r>
              <a:rPr lang="en-US" sz="1800" b="1" dirty="0">
                <a:solidFill>
                  <a:srgbClr val="002060"/>
                </a:solidFill>
                <a:latin typeface="Times New Roman" panose="02020603050405020304" pitchFamily="18" charset="0"/>
                <a:cs typeface="Times New Roman" panose="02020603050405020304" pitchFamily="18" charset="0"/>
              </a:rPr>
              <a:t>Literature Survey</a:t>
            </a:r>
          </a:p>
          <a:p>
            <a:r>
              <a:rPr lang="en-US" sz="1800" b="1" dirty="0">
                <a:solidFill>
                  <a:srgbClr val="002060"/>
                </a:solidFill>
                <a:latin typeface="Times New Roman" panose="02020603050405020304" pitchFamily="18" charset="0"/>
                <a:cs typeface="Times New Roman" panose="02020603050405020304" pitchFamily="18" charset="0"/>
              </a:rPr>
              <a:t>Dataset Overview</a:t>
            </a:r>
          </a:p>
          <a:p>
            <a:r>
              <a:rPr lang="en-US" sz="1800" b="1" dirty="0">
                <a:solidFill>
                  <a:srgbClr val="002060"/>
                </a:solidFill>
                <a:latin typeface="Times New Roman" panose="02020603050405020304" pitchFamily="18" charset="0"/>
                <a:cs typeface="Times New Roman" panose="02020603050405020304" pitchFamily="18" charset="0"/>
              </a:rPr>
              <a:t>Proposed Work</a:t>
            </a:r>
          </a:p>
          <a:p>
            <a:pPr lvl="1">
              <a:buFont typeface="Wingdings" pitchFamily="2" charset="2"/>
              <a:buChar char="Ø"/>
            </a:pPr>
            <a:r>
              <a:rPr lang="en-IN" sz="1800" dirty="0"/>
              <a:t>Block Diagram of Proposed Work</a:t>
            </a:r>
          </a:p>
          <a:p>
            <a:pPr lvl="1">
              <a:buFont typeface="Wingdings" pitchFamily="2" charset="2"/>
              <a:buChar char="Ø"/>
            </a:pPr>
            <a:r>
              <a:rPr lang="en-IN" sz="1800" dirty="0"/>
              <a:t>System Architecture</a:t>
            </a:r>
          </a:p>
          <a:p>
            <a:pPr lvl="1">
              <a:buFont typeface="Wingdings" pitchFamily="2" charset="2"/>
              <a:buChar char="Ø"/>
            </a:pPr>
            <a:r>
              <a:rPr lang="en-IN" sz="1800" dirty="0"/>
              <a:t>System Workflow</a:t>
            </a:r>
          </a:p>
          <a:p>
            <a:r>
              <a:rPr lang="en-US" sz="1800" b="1" dirty="0">
                <a:solidFill>
                  <a:srgbClr val="002060"/>
                </a:solidFill>
                <a:latin typeface="Times New Roman" panose="02020603050405020304" pitchFamily="18" charset="0"/>
                <a:cs typeface="Times New Roman" panose="02020603050405020304" pitchFamily="18" charset="0"/>
              </a:rPr>
              <a:t>Comparison Table</a:t>
            </a:r>
          </a:p>
          <a:p>
            <a:r>
              <a:rPr lang="en-US" sz="1800" b="1" dirty="0">
                <a:solidFill>
                  <a:srgbClr val="002060"/>
                </a:solidFill>
                <a:latin typeface="Times New Roman" panose="02020603050405020304" pitchFamily="18" charset="0"/>
                <a:cs typeface="Times New Roman" panose="02020603050405020304" pitchFamily="18" charset="0"/>
              </a:rPr>
              <a:t>Confusion Metrix</a:t>
            </a:r>
          </a:p>
          <a:p>
            <a:r>
              <a:rPr lang="en-US" sz="1800" b="1" dirty="0">
                <a:solidFill>
                  <a:srgbClr val="002060"/>
                </a:solidFill>
                <a:latin typeface="Times New Roman" panose="02020603050405020304" pitchFamily="18" charset="0"/>
                <a:cs typeface="Times New Roman" panose="02020603050405020304" pitchFamily="18" charset="0"/>
              </a:rPr>
              <a:t>Applications</a:t>
            </a:r>
          </a:p>
          <a:p>
            <a:r>
              <a:rPr lang="en-US" sz="1800" b="1" dirty="0">
                <a:solidFill>
                  <a:srgbClr val="002060"/>
                </a:solidFill>
                <a:latin typeface="Times New Roman" panose="02020603050405020304" pitchFamily="18" charset="0"/>
                <a:cs typeface="Times New Roman" panose="02020603050405020304" pitchFamily="18" charset="0"/>
              </a:rPr>
              <a:t>Results</a:t>
            </a:r>
          </a:p>
          <a:p>
            <a:r>
              <a:rPr lang="en-US" sz="1800" b="1" dirty="0">
                <a:solidFill>
                  <a:srgbClr val="002060"/>
                </a:solidFill>
                <a:latin typeface="Times New Roman" panose="02020603050405020304" pitchFamily="18" charset="0"/>
                <a:cs typeface="Times New Roman" panose="02020603050405020304" pitchFamily="18" charset="0"/>
              </a:rPr>
              <a:t>Conclusion</a:t>
            </a:r>
          </a:p>
          <a:p>
            <a:r>
              <a:rPr lang="en-US" sz="1800" b="1" dirty="0">
                <a:solidFill>
                  <a:srgbClr val="002060"/>
                </a:solidFill>
                <a:latin typeface="Times New Roman" panose="02020603050405020304" pitchFamily="18" charset="0"/>
                <a:cs typeface="Times New Roman" panose="02020603050405020304" pitchFamily="18" charset="0"/>
              </a:rPr>
              <a:t>Future Scope</a:t>
            </a:r>
          </a:p>
          <a:p>
            <a:r>
              <a:rPr lang="en-US" sz="1800" b="1" dirty="0">
                <a:solidFill>
                  <a:srgbClr val="002060"/>
                </a:solidFill>
                <a:latin typeface="Times New Roman" panose="02020603050405020304" pitchFamily="18" charset="0"/>
                <a:cs typeface="Times New Roman" panose="02020603050405020304" pitchFamily="18" charset="0"/>
              </a:rPr>
              <a:t>References</a:t>
            </a:r>
          </a:p>
        </p:txBody>
      </p:sp>
      <p:sp>
        <p:nvSpPr>
          <p:cNvPr id="10" name="Slide Number Placeholder 9"/>
          <p:cNvSpPr>
            <a:spLocks noGrp="1"/>
          </p:cNvSpPr>
          <p:nvPr>
            <p:ph type="sldNum" sz="quarter" idx="12"/>
          </p:nvPr>
        </p:nvSpPr>
        <p:spPr/>
        <p:txBody>
          <a:bodyPr/>
          <a:lstStyle/>
          <a:p>
            <a:fld id="{DFFA8894-9BB9-4840-9552-2631AF7E8A18}" type="slidenum">
              <a:rPr lang="en-US" smtClean="0"/>
              <a:pPr/>
              <a:t>2</a:t>
            </a:fld>
            <a:endParaRPr lang="en-US"/>
          </a:p>
        </p:txBody>
      </p:sp>
      <p:sp>
        <p:nvSpPr>
          <p:cNvPr id="5"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dirty="0">
                <a:ln>
                  <a:noFill/>
                </a:ln>
                <a:solidFill>
                  <a:schemeClr val="tx1"/>
                </a:solidFill>
                <a:effectLst/>
                <a:uLnTx/>
                <a:uFillTx/>
                <a:latin typeface="Book Antiqua" pitchFamily="18" charset="0"/>
              </a:rPr>
              <a:t>Contents</a:t>
            </a:r>
            <a:endParaRPr kumimoji="0" lang="en-US" b="1" i="0" u="none" strike="noStrike" kern="1200" cap="none" spc="0" normalizeH="0" baseline="0" noProof="0" dirty="0">
              <a:ln>
                <a:noFill/>
              </a:ln>
              <a:solidFill>
                <a:schemeClr val="tx1"/>
              </a:solidFill>
              <a:effectLst/>
              <a:uLnTx/>
              <a:uFillTx/>
              <a:latin typeface="Book Antiqua" pitchFamily="18" charset="0"/>
            </a:endParaRPr>
          </a:p>
        </p:txBody>
      </p:sp>
      <p:sp>
        <p:nvSpPr>
          <p:cNvPr id="11" name="Footer Placeholder 6"/>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chemeClr val="tx1"/>
                </a:solidFill>
                <a:effectLst/>
                <a:uLnTx/>
                <a:uFillTx/>
                <a:latin typeface="+mn-lt"/>
                <a:ea typeface="+mn-ea"/>
                <a:cs typeface="+mn-cs"/>
              </a:rPr>
              <a:t>Dept. of ISE, SIT, </a:t>
            </a:r>
            <a:r>
              <a:rPr kumimoji="0" lang="en-IN" sz="1200" b="0" i="0" u="none" strike="noStrike" kern="1200" cap="none" spc="0" normalizeH="0" baseline="0" noProof="0" dirty="0" err="1">
                <a:ln>
                  <a:noFill/>
                </a:ln>
                <a:solidFill>
                  <a:schemeClr val="tx1"/>
                </a:solidFill>
                <a:effectLst/>
                <a:uLnTx/>
                <a:uFillTx/>
                <a:latin typeface="+mn-lt"/>
                <a:ea typeface="+mn-ea"/>
                <a:cs typeface="+mn-cs"/>
              </a:rPr>
              <a:t>Tumkur</a:t>
            </a:r>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84182"/>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15875"/>
            <a:ext cx="9144000" cy="304800"/>
          </a:xfrm>
          <a:prstGeom prst="rect">
            <a:avLst/>
          </a:prstGeom>
          <a:solidFill>
            <a:schemeClr val="accent6"/>
          </a:solidFill>
        </p:spPr>
        <p:txBody>
          <a:bodyPr vert="horz" lIns="91440" tIns="45720" rIns="91440" bIns="45720" rtlCol="0" anchor="ctr">
            <a:noAutofit/>
          </a:bodyPr>
          <a:lstStyle/>
          <a:p>
            <a:pPr>
              <a:spcBef>
                <a:spcPct val="0"/>
              </a:spcBef>
              <a:defRPr/>
            </a:pPr>
            <a:r>
              <a:rPr lang="sv-SE" b="1">
                <a:solidFill>
                  <a:prstClr val="black"/>
                </a:solidFill>
                <a:latin typeface="Book Antiqua" pitchFamily="18" charset="0"/>
              </a:rPr>
              <a:t>Introduction</a:t>
            </a:r>
            <a:endParaRPr lang="en-US" b="1">
              <a:solidFill>
                <a:prstClr val="black"/>
              </a:solidFill>
              <a:latin typeface="Book Antiqua" pitchFamily="18" charset="0"/>
            </a:endParaRPr>
          </a:p>
        </p:txBody>
      </p:sp>
      <p:sp>
        <p:nvSpPr>
          <p:cNvPr id="5" name="Title 1"/>
          <p:cNvSpPr txBox="1">
            <a:spLocks/>
          </p:cNvSpPr>
          <p:nvPr/>
        </p:nvSpPr>
        <p:spPr>
          <a:xfrm>
            <a:off x="451282" y="1034756"/>
            <a:ext cx="8117684" cy="5366043"/>
          </a:xfrm>
          <a:prstGeom prst="rect">
            <a:avLst/>
          </a:prstGeom>
        </p:spPr>
        <p:txBody>
          <a:bodyPr vert="horz" lIns="91440" tIns="45720" rIns="91440" bIns="45720" rtlCol="0" anchor="ctr">
            <a:noAutofit/>
          </a:bodyPr>
          <a:lstStyle/>
          <a:p>
            <a:pPr algn="just">
              <a:spcBef>
                <a:spcPct val="0"/>
              </a:spcBef>
              <a:defRPr/>
            </a:pPr>
            <a:endParaRPr lang="en-US" sz="2300" dirty="0">
              <a:latin typeface="Times New Roman" panose="02020603050405020304" pitchFamily="18" charset="0"/>
              <a:cs typeface="Times New Roman" panose="02020603050405020304" pitchFamily="18" charset="0"/>
            </a:endParaRPr>
          </a:p>
          <a:p>
            <a:pPr algn="just">
              <a:spcBef>
                <a:spcPct val="0"/>
              </a:spcBef>
              <a:defRPr/>
            </a:pPr>
            <a:endParaRPr lang="en-US" sz="2300" dirty="0">
              <a:latin typeface="Times New Roman" panose="02020603050405020304" pitchFamily="18" charset="0"/>
              <a:cs typeface="Times New Roman" panose="02020603050405020304" pitchFamily="18" charset="0"/>
            </a:endParaRPr>
          </a:p>
          <a:p>
            <a:pPr algn="just">
              <a:spcBef>
                <a:spcPct val="0"/>
              </a:spcBef>
              <a:defRPr/>
            </a:pPr>
            <a:endParaRPr lang="en-US" sz="2300" dirty="0">
              <a:latin typeface="Times New Roman" panose="02020603050405020304" pitchFamily="18" charset="0"/>
              <a:cs typeface="Times New Roman" panose="02020603050405020304" pitchFamily="18" charset="0"/>
            </a:endParaRPr>
          </a:p>
          <a:p>
            <a:pPr algn="just">
              <a:spcBef>
                <a:spcPct val="0"/>
              </a:spcBef>
              <a:defRPr/>
            </a:pPr>
            <a:endParaRPr lang="en-US" sz="2300" dirty="0">
              <a:latin typeface="Times New Roman" panose="02020603050405020304" pitchFamily="18" charset="0"/>
              <a:cs typeface="Times New Roman" panose="02020603050405020304" pitchFamily="18" charset="0"/>
            </a:endParaRPr>
          </a:p>
          <a:p>
            <a:pPr algn="just">
              <a:spcBef>
                <a:spcPct val="0"/>
              </a:spcBef>
              <a:defRPr/>
            </a:pPr>
            <a:endParaRPr lang="en-US" sz="2300" dirty="0">
              <a:latin typeface="Times New Roman" panose="02020603050405020304" pitchFamily="18" charset="0"/>
              <a:cs typeface="Times New Roman" panose="02020603050405020304" pitchFamily="18" charset="0"/>
            </a:endParaRPr>
          </a:p>
        </p:txBody>
      </p:sp>
      <p:sp>
        <p:nvSpPr>
          <p:cNvPr id="9" name="Title 1"/>
          <p:cNvSpPr>
            <a:spLocks noGrp="1"/>
          </p:cNvSpPr>
          <p:nvPr>
            <p:ph type="title"/>
          </p:nvPr>
        </p:nvSpPr>
        <p:spPr>
          <a:xfrm>
            <a:off x="457200" y="396876"/>
            <a:ext cx="8229600" cy="545804"/>
          </a:xfrm>
        </p:spPr>
        <p:txBody>
          <a:bodyPr>
            <a:normAutofit fontScale="90000"/>
          </a:bodyPr>
          <a:lstStyle/>
          <a:p>
            <a:r>
              <a:rPr lang="en-US" sz="3200" b="1" dirty="0">
                <a:solidFill>
                  <a:srgbClr val="002060"/>
                </a:solidFill>
                <a:latin typeface="Times New Roman" panose="02020603050405020304" pitchFamily="18" charset="0"/>
                <a:ea typeface="+mn-ea"/>
                <a:cs typeface="Times New Roman" panose="02020603050405020304" pitchFamily="18" charset="0"/>
              </a:rPr>
              <a:t>INTRODUCTION</a:t>
            </a:r>
          </a:p>
        </p:txBody>
      </p:sp>
      <p:sp>
        <p:nvSpPr>
          <p:cNvPr id="7" name="Slide Number Placeholder 6"/>
          <p:cNvSpPr>
            <a:spLocks noGrp="1"/>
          </p:cNvSpPr>
          <p:nvPr>
            <p:ph type="sldNum" sz="quarter" idx="12"/>
          </p:nvPr>
        </p:nvSpPr>
        <p:spPr>
          <a:xfrm>
            <a:off x="6553200" y="6338413"/>
            <a:ext cx="2133600" cy="365125"/>
          </a:xfrm>
        </p:spPr>
        <p:txBody>
          <a:bodyPr/>
          <a:lstStyle/>
          <a:p>
            <a:fld id="{DFFA8894-9BB9-4840-9552-2631AF7E8A18}" type="slidenum">
              <a:rPr lang="en-US" smtClean="0">
                <a:solidFill>
                  <a:prstClr val="black">
                    <a:tint val="75000"/>
                  </a:prstClr>
                </a:solidFill>
              </a:rPr>
              <a:pPr/>
              <a:t>3</a:t>
            </a:fld>
            <a:endParaRPr lang="en-US">
              <a:solidFill>
                <a:prstClr val="black">
                  <a:tint val="75000"/>
                </a:prstClr>
              </a:solidFill>
            </a:endParaRPr>
          </a:p>
        </p:txBody>
      </p:sp>
      <p:sp>
        <p:nvSpPr>
          <p:cNvPr id="8" name="Footer Placeholder 6"/>
          <p:cNvSpPr txBox="1">
            <a:spLocks/>
          </p:cNvSpPr>
          <p:nvPr/>
        </p:nvSpPr>
        <p:spPr>
          <a:xfrm>
            <a:off x="0" y="6520976"/>
            <a:ext cx="9144000" cy="365125"/>
          </a:xfrm>
          <a:prstGeom prst="rect">
            <a:avLst/>
          </a:prstGeom>
          <a:solidFill>
            <a:schemeClr val="accent6"/>
          </a:solidFill>
        </p:spPr>
        <p:txBody>
          <a:bodyPr vert="horz" lIns="91440" tIns="45720" rIns="91440" bIns="45720" rtlCol="0" anchor="ctr"/>
          <a:lstStyle/>
          <a:p>
            <a:pPr algn="ctr">
              <a:defRPr/>
            </a:pPr>
            <a:r>
              <a:rPr lang="en-IN" sz="1200">
                <a:solidFill>
                  <a:prstClr val="black"/>
                </a:solidFill>
              </a:rPr>
              <a:t>Dept. of ISE, SIT, Tumkur</a:t>
            </a:r>
            <a:endParaRPr lang="en-US" sz="1200">
              <a:solidFill>
                <a:prstClr val="black"/>
              </a:solidFill>
            </a:endParaRPr>
          </a:p>
        </p:txBody>
      </p:sp>
      <p:pic>
        <p:nvPicPr>
          <p:cNvPr id="11"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84182"/>
            <a:ext cx="375082" cy="382509"/>
          </a:xfrm>
          <a:prstGeom prst="rect">
            <a:avLst/>
          </a:prstGeom>
          <a:noFill/>
        </p:spPr>
      </p:pic>
      <p:sp>
        <p:nvSpPr>
          <p:cNvPr id="12"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algn="r">
              <a:defRPr/>
            </a:pPr>
            <a:fld id="{DFFA8894-9BB9-4840-9552-2631AF7E8A18}" type="slidenum">
              <a:rPr lang="en-US" sz="1200" smtClean="0">
                <a:solidFill>
                  <a:prstClr val="black"/>
                </a:solidFill>
              </a:rPr>
              <a:pPr algn="r">
                <a:defRPr/>
              </a:pPr>
              <a:t>3</a:t>
            </a:fld>
            <a:endParaRPr lang="en-US" sz="1200">
              <a:solidFill>
                <a:prstClr val="black"/>
              </a:solidFill>
            </a:endParaRPr>
          </a:p>
        </p:txBody>
      </p:sp>
      <p:sp>
        <p:nvSpPr>
          <p:cNvPr id="13" name="TextBox 12">
            <a:extLst>
              <a:ext uri="{FF2B5EF4-FFF2-40B4-BE49-F238E27FC236}">
                <a16:creationId xmlns:a16="http://schemas.microsoft.com/office/drawing/2014/main" id="{72DB0041-ECE1-F299-663E-C0F2D10727E5}"/>
              </a:ext>
            </a:extLst>
          </p:cNvPr>
          <p:cNvSpPr txBox="1"/>
          <p:nvPr/>
        </p:nvSpPr>
        <p:spPr>
          <a:xfrm>
            <a:off x="575034" y="1170157"/>
            <a:ext cx="8117684" cy="4524315"/>
          </a:xfrm>
          <a:prstGeom prst="rect">
            <a:avLst/>
          </a:prstGeom>
          <a:noFill/>
        </p:spPr>
        <p:txBody>
          <a:bodyPr wrap="square">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Online transactions are growing rapidly, increasing the risk of financial fraud.</a:t>
            </a:r>
          </a:p>
          <a:p>
            <a:pPr marL="342900" marR="0" lvl="0" indent="-342900" algn="just"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rule-based methods struggle to detect sophisticated fraud patterns.</a:t>
            </a:r>
          </a:p>
          <a:p>
            <a:pPr marL="342900" marR="0" lvl="0" indent="-342900" algn="just"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Delays in detecting fraud lead to financial losses for consumers and organizations.</a:t>
            </a:r>
          </a:p>
          <a:p>
            <a:pPr marL="342900" marR="0" lvl="0" indent="-342900" algn="just"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(ML) offers advanced capabilities to analyze transaction patterns and identify fraud effectively.</a:t>
            </a:r>
          </a:p>
          <a:p>
            <a:pPr marL="342900" marR="0" lvl="0" indent="-342900" algn="just"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uses ML algorithms to classify transactions as legitimate or fraudulent in real time.</a:t>
            </a:r>
          </a:p>
          <a:p>
            <a:pPr marL="342900" marR="0" lvl="0" indent="-342900" algn="just"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aims to improve accuracy, reduce false positives, and enhance security in financial transactions. </a:t>
            </a:r>
          </a:p>
        </p:txBody>
      </p:sp>
    </p:spTree>
    <p:extLst>
      <p:ext uri="{BB962C8B-B14F-4D97-AF65-F5344CB8AC3E}">
        <p14:creationId xmlns:p14="http://schemas.microsoft.com/office/powerpoint/2010/main" val="6267652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15875"/>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b="1" i="0" u="none" strike="noStrike" kern="1200" cap="none" spc="0" normalizeH="0" baseline="0" noProof="0">
                <a:ln>
                  <a:noFill/>
                </a:ln>
                <a:solidFill>
                  <a:schemeClr val="tx1"/>
                </a:solidFill>
                <a:effectLst/>
                <a:uLnTx/>
                <a:uFillTx/>
                <a:latin typeface="Book Antiqua" pitchFamily="18" charset="0"/>
                <a:ea typeface="+mn-ea"/>
                <a:cs typeface="+mn-cs"/>
              </a:rPr>
              <a:t>Problem statement</a:t>
            </a:r>
          </a:p>
        </p:txBody>
      </p:sp>
      <p:sp>
        <p:nvSpPr>
          <p:cNvPr id="5" name="Title 1"/>
          <p:cNvSpPr txBox="1">
            <a:spLocks/>
          </p:cNvSpPr>
          <p:nvPr/>
        </p:nvSpPr>
        <p:spPr>
          <a:xfrm>
            <a:off x="673100" y="777081"/>
            <a:ext cx="7797800" cy="1760299"/>
          </a:xfrm>
          <a:prstGeom prst="rect">
            <a:avLst/>
          </a:prstGeom>
        </p:spPr>
        <p:txBody>
          <a:bodyPr vert="horz" lIns="91440" tIns="45720" rIns="91440" bIns="45720" rtlCol="0" anchor="ctr">
            <a:noAutofit/>
          </a:bodyPr>
          <a:lstStyle/>
          <a:p>
            <a:pPr marL="0" marR="0" lvl="0" indent="0" algn="just"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a:p>
            <a:pPr marL="533400" marR="0" lvl="0" indent="-533400" algn="just" defTabSz="914400" rtl="0" eaLnBrk="1" fontAlgn="auto" latinLnBrk="0" hangingPunct="1">
              <a:lnSpc>
                <a:spcPct val="150000"/>
              </a:lnSpc>
              <a:spcBef>
                <a:spcPct val="0"/>
              </a:spcBef>
              <a:spcAft>
                <a:spcPts val="0"/>
              </a:spcAft>
              <a:buClrTx/>
              <a:buSzTx/>
              <a:tabLst/>
              <a:defRPr/>
            </a:pPr>
            <a:endParaRPr kumimoji="0" lang="en-US" sz="2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mj-ea"/>
              <a:cs typeface="Times New Roman" panose="02020603050405020304" pitchFamily="18" charset="0"/>
            </a:endParaRPr>
          </a:p>
          <a:p>
            <a:pPr marL="342900" indent="-342900" algn="just" eaLnBrk="0" fontAlgn="base" hangingPunct="0">
              <a:spcBef>
                <a:spcPct val="0"/>
              </a:spcBef>
              <a:spcAft>
                <a:spcPct val="0"/>
              </a:spcAft>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With the increasing number of online transactions, detecting fraud has become a major challenge. This project uses machine learning to quickly and accurately classify transactions as either legitimate or fraudulent, improving security and reducing financial losses.</a:t>
            </a:r>
            <a:endPar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9" name="Title 1"/>
          <p:cNvSpPr>
            <a:spLocks noGrp="1"/>
          </p:cNvSpPr>
          <p:nvPr>
            <p:ph type="title"/>
          </p:nvPr>
        </p:nvSpPr>
        <p:spPr>
          <a:xfrm>
            <a:off x="457200" y="457200"/>
            <a:ext cx="8229600" cy="639762"/>
          </a:xfrm>
        </p:spPr>
        <p:txBody>
          <a:bodyPr>
            <a:normAutofit/>
          </a:bodyPr>
          <a:lstStyle/>
          <a:p>
            <a:r>
              <a:rPr lang="en-US" sz="3200" b="1" dirty="0">
                <a:solidFill>
                  <a:srgbClr val="002060"/>
                </a:solidFill>
                <a:latin typeface="Times New Roman" panose="02020603050405020304" pitchFamily="18" charset="0"/>
                <a:ea typeface="+mn-ea"/>
                <a:cs typeface="Times New Roman" panose="02020603050405020304" pitchFamily="18" charset="0"/>
              </a:rPr>
              <a:t>PROBLEM STATEMENT</a:t>
            </a:r>
          </a:p>
        </p:txBody>
      </p:sp>
      <p:sp>
        <p:nvSpPr>
          <p:cNvPr id="7" name="Slide Number Placeholder 6"/>
          <p:cNvSpPr>
            <a:spLocks noGrp="1"/>
          </p:cNvSpPr>
          <p:nvPr>
            <p:ph type="sldNum" sz="quarter" idx="12"/>
          </p:nvPr>
        </p:nvSpPr>
        <p:spPr/>
        <p:txBody>
          <a:bodyPr/>
          <a:lstStyle/>
          <a:p>
            <a:fld id="{DFFA8894-9BB9-4840-9552-2631AF7E8A18}" type="slidenum">
              <a:rPr lang="en-US" smtClean="0"/>
              <a:pPr/>
              <a:t>4</a:t>
            </a:fld>
            <a:endParaRPr lang="en-US"/>
          </a:p>
        </p:txBody>
      </p:sp>
      <p:sp>
        <p:nvSpPr>
          <p:cNvPr id="8" name="Footer Placeholder 6"/>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1"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90215"/>
            <a:ext cx="375082" cy="382509"/>
          </a:xfrm>
          <a:prstGeom prst="rect">
            <a:avLst/>
          </a:prstGeom>
          <a:noFill/>
        </p:spPr>
      </p:pic>
      <p:sp>
        <p:nvSpPr>
          <p:cNvPr id="12"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OBJECTIVES</a:t>
            </a:r>
          </a:p>
        </p:txBody>
      </p:sp>
      <p:sp>
        <p:nvSpPr>
          <p:cNvPr id="4" name="Title 1"/>
          <p:cNvSpPr txBox="1">
            <a:spLocks/>
          </p:cNvSpPr>
          <p:nvPr/>
        </p:nvSpPr>
        <p:spPr>
          <a:xfrm>
            <a:off x="0" y="-1016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dirty="0">
                <a:ln>
                  <a:noFill/>
                </a:ln>
                <a:solidFill>
                  <a:schemeClr val="tx1"/>
                </a:solidFill>
                <a:effectLst/>
                <a:uLnTx/>
                <a:uFillTx/>
                <a:latin typeface="Book Antiqua" pitchFamily="18" charset="0"/>
                <a:ea typeface="+mn-ea"/>
                <a:cs typeface="+mn-cs"/>
              </a:rPr>
              <a:t>Objective</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11" name="Footer Placeholder 6"/>
          <p:cNvSpPr txBox="1">
            <a:spLocks/>
          </p:cNvSpPr>
          <p:nvPr/>
        </p:nvSpPr>
        <p:spPr>
          <a:xfrm>
            <a:off x="0" y="649287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5918" y="6484182"/>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Rectangle 3">
            <a:extLst>
              <a:ext uri="{FF2B5EF4-FFF2-40B4-BE49-F238E27FC236}">
                <a16:creationId xmlns:a16="http://schemas.microsoft.com/office/drawing/2014/main" id="{47563E95-1B9F-BACF-DA8F-366C34B76F1B}"/>
              </a:ext>
            </a:extLst>
          </p:cNvPr>
          <p:cNvSpPr>
            <a:spLocks noGrp="1" noChangeArrowheads="1"/>
          </p:cNvSpPr>
          <p:nvPr>
            <p:ph idx="1"/>
          </p:nvPr>
        </p:nvSpPr>
        <p:spPr bwMode="auto">
          <a:xfrm>
            <a:off x="591820" y="1132611"/>
            <a:ext cx="796036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advanced machine learning techniques to detect complex and evolving fraud patterns in real-time, ensuring prompt intervention during online transactions.</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 on improving the accuracy of fraud detection while minimizing false positives, ensuring seamless transaction processing without disrupting legitimate users.</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scalable system that adapts to changing fraud tactics, maintaining its effectiveness and reliability over time as fraudulent methods evolve.</a:t>
            </a:r>
          </a:p>
        </p:txBody>
      </p:sp>
    </p:spTree>
    <p:extLst>
      <p:ext uri="{BB962C8B-B14F-4D97-AF65-F5344CB8AC3E}">
        <p14:creationId xmlns:p14="http://schemas.microsoft.com/office/powerpoint/2010/main" val="20191990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a:ln>
                  <a:noFill/>
                </a:ln>
                <a:solidFill>
                  <a:schemeClr val="tx1"/>
                </a:solidFill>
                <a:effectLst/>
                <a:uLnTx/>
                <a:uFillTx/>
                <a:latin typeface="Book Antiqua" pitchFamily="18" charset="0"/>
                <a:ea typeface="+mn-ea"/>
                <a:cs typeface="+mn-cs"/>
              </a:rPr>
              <a:t>Literature Survey</a:t>
            </a:r>
            <a:endParaRPr kumimoji="0" lang="en-US" b="1" i="0" u="none" strike="noStrike" kern="1200" cap="none" spc="0" normalizeH="0" baseline="0" noProof="0">
              <a:ln>
                <a:noFill/>
              </a:ln>
              <a:solidFill>
                <a:schemeClr val="tx1"/>
              </a:solidFill>
              <a:effectLst/>
              <a:uLnTx/>
              <a:uFillTx/>
              <a:latin typeface="Book Antiqua" pitchFamily="18" charset="0"/>
              <a:ea typeface="+mn-ea"/>
              <a:cs typeface="+mn-cs"/>
            </a:endParaRPr>
          </a:p>
        </p:txBody>
      </p:sp>
      <p:sp>
        <p:nvSpPr>
          <p:cNvPr id="5" name="Title 1"/>
          <p:cNvSpPr txBox="1">
            <a:spLocks/>
          </p:cNvSpPr>
          <p:nvPr/>
        </p:nvSpPr>
        <p:spPr>
          <a:xfrm>
            <a:off x="461442" y="1143001"/>
            <a:ext cx="8382000" cy="4800600"/>
          </a:xfrm>
          <a:prstGeom prst="rect">
            <a:avLst/>
          </a:prstGeom>
        </p:spPr>
        <p:txBody>
          <a:bodyPr vert="horz" lIns="91440" tIns="45720" rIns="91440" bIns="45720" rtlCol="0" anchor="ctr">
            <a:normAutofit/>
          </a:bodyPr>
          <a:lstStyle/>
          <a:p>
            <a:pPr algn="just"/>
            <a:endParaRPr lang="en-US" sz="800" b="1"/>
          </a:p>
          <a:p>
            <a:pPr algn="just"/>
            <a:endParaRPr lang="en-US" sz="800" b="1"/>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p:txBody>
      </p:sp>
      <p:sp>
        <p:nvSpPr>
          <p:cNvPr id="10" name="Footer Placeholder 6"/>
          <p:cNvSpPr txBox="1">
            <a:spLocks/>
          </p:cNvSpPr>
          <p:nvPr/>
        </p:nvSpPr>
        <p:spPr>
          <a:xfrm>
            <a:off x="0" y="649287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chemeClr val="tx1"/>
                </a:solidFill>
                <a:effectLst/>
                <a:uLnTx/>
                <a:uFillTx/>
                <a:latin typeface="+mn-lt"/>
                <a:ea typeface="+mn-ea"/>
                <a:cs typeface="+mn-cs"/>
              </a:rPr>
              <a:t>Dept. of ISE, SIT, </a:t>
            </a:r>
            <a:r>
              <a:rPr kumimoji="0" lang="en-IN" sz="1200" b="0" i="0" u="none" strike="noStrike" kern="1200" cap="none" spc="0" normalizeH="0" baseline="0" noProof="0" dirty="0" err="1">
                <a:ln>
                  <a:noFill/>
                </a:ln>
                <a:solidFill>
                  <a:schemeClr val="tx1"/>
                </a:solidFill>
                <a:effectLst/>
                <a:uLnTx/>
                <a:uFillTx/>
                <a:latin typeface="+mn-lt"/>
                <a:ea typeface="+mn-ea"/>
                <a:cs typeface="+mn-cs"/>
              </a:rPr>
              <a:t>Tumkur</a:t>
            </a:r>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pic>
        <p:nvPicPr>
          <p:cNvPr id="11"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84182"/>
            <a:ext cx="375082" cy="382509"/>
          </a:xfrm>
          <a:prstGeom prst="rect">
            <a:avLst/>
          </a:prstGeom>
          <a:noFill/>
        </p:spPr>
      </p:pic>
      <p:sp>
        <p:nvSpPr>
          <p:cNvPr id="12"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Title 1"/>
          <p:cNvSpPr>
            <a:spLocks noGrp="1"/>
          </p:cNvSpPr>
          <p:nvPr>
            <p:ph type="title"/>
          </p:nvPr>
        </p:nvSpPr>
        <p:spPr>
          <a:xfrm>
            <a:off x="457200" y="457200"/>
            <a:ext cx="82296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LITERATURE SURVEY</a:t>
            </a:r>
          </a:p>
        </p:txBody>
      </p:sp>
      <p:graphicFrame>
        <p:nvGraphicFramePr>
          <p:cNvPr id="18" name="Table 18">
            <a:extLst>
              <a:ext uri="{FF2B5EF4-FFF2-40B4-BE49-F238E27FC236}">
                <a16:creationId xmlns:a16="http://schemas.microsoft.com/office/drawing/2014/main" id="{F45C5584-F816-A52D-4077-A830B70DE85F}"/>
              </a:ext>
            </a:extLst>
          </p:cNvPr>
          <p:cNvGraphicFramePr>
            <a:graphicFrameLocks noGrp="1"/>
          </p:cNvGraphicFramePr>
          <p:nvPr>
            <p:extLst>
              <p:ext uri="{D42A27DB-BD31-4B8C-83A1-F6EECF244321}">
                <p14:modId xmlns:p14="http://schemas.microsoft.com/office/powerpoint/2010/main" val="445573047"/>
              </p:ext>
            </p:extLst>
          </p:nvPr>
        </p:nvGraphicFramePr>
        <p:xfrm>
          <a:off x="741680" y="1143001"/>
          <a:ext cx="7650481" cy="4800600"/>
        </p:xfrm>
        <a:graphic>
          <a:graphicData uri="http://schemas.openxmlformats.org/drawingml/2006/table">
            <a:tbl>
              <a:tblPr firstRow="1" bandRow="1">
                <a:tableStyleId>{93296810-A885-4BE3-A3E7-6D5BEEA58F35}</a:tableStyleId>
              </a:tblPr>
              <a:tblGrid>
                <a:gridCol w="751840">
                  <a:extLst>
                    <a:ext uri="{9D8B030D-6E8A-4147-A177-3AD203B41FA5}">
                      <a16:colId xmlns:a16="http://schemas.microsoft.com/office/drawing/2014/main" val="105411331"/>
                    </a:ext>
                  </a:extLst>
                </a:gridCol>
                <a:gridCol w="1127760">
                  <a:extLst>
                    <a:ext uri="{9D8B030D-6E8A-4147-A177-3AD203B41FA5}">
                      <a16:colId xmlns:a16="http://schemas.microsoft.com/office/drawing/2014/main" val="3292897853"/>
                    </a:ext>
                  </a:extLst>
                </a:gridCol>
                <a:gridCol w="1908138">
                  <a:extLst>
                    <a:ext uri="{9D8B030D-6E8A-4147-A177-3AD203B41FA5}">
                      <a16:colId xmlns:a16="http://schemas.microsoft.com/office/drawing/2014/main" val="2663704881"/>
                    </a:ext>
                  </a:extLst>
                </a:gridCol>
                <a:gridCol w="1007782">
                  <a:extLst>
                    <a:ext uri="{9D8B030D-6E8A-4147-A177-3AD203B41FA5}">
                      <a16:colId xmlns:a16="http://schemas.microsoft.com/office/drawing/2014/main" val="3424749134"/>
                    </a:ext>
                  </a:extLst>
                </a:gridCol>
                <a:gridCol w="1567380">
                  <a:extLst>
                    <a:ext uri="{9D8B030D-6E8A-4147-A177-3AD203B41FA5}">
                      <a16:colId xmlns:a16="http://schemas.microsoft.com/office/drawing/2014/main" val="3313008980"/>
                    </a:ext>
                  </a:extLst>
                </a:gridCol>
                <a:gridCol w="1287581">
                  <a:extLst>
                    <a:ext uri="{9D8B030D-6E8A-4147-A177-3AD203B41FA5}">
                      <a16:colId xmlns:a16="http://schemas.microsoft.com/office/drawing/2014/main" val="2538075132"/>
                    </a:ext>
                  </a:extLst>
                </a:gridCol>
              </a:tblGrid>
              <a:tr h="819614">
                <a:tc>
                  <a:txBody>
                    <a:bodyPr/>
                    <a:lstStyle/>
                    <a:p>
                      <a:pPr fontAlgn="b"/>
                      <a:r>
                        <a:rPr lang="en-IN" b="1" dirty="0">
                          <a:effectLst/>
                          <a:latin typeface="Times New Roman" panose="02020603050405020304" pitchFamily="18" charset="0"/>
                          <a:cs typeface="Times New Roman" panose="02020603050405020304" pitchFamily="18" charset="0"/>
                        </a:rPr>
                        <a:t>SI. NO</a:t>
                      </a:r>
                    </a:p>
                  </a:txBody>
                  <a:tcPr anchor="b"/>
                </a:tc>
                <a:tc>
                  <a:txBody>
                    <a:bodyPr/>
                    <a:lstStyle/>
                    <a:p>
                      <a:pPr fontAlgn="b"/>
                      <a:r>
                        <a:rPr lang="en-IN" b="1" dirty="0">
                          <a:effectLst/>
                          <a:latin typeface="Times New Roman" panose="02020603050405020304" pitchFamily="18" charset="0"/>
                          <a:cs typeface="Times New Roman" panose="02020603050405020304" pitchFamily="18" charset="0"/>
                        </a:rPr>
                        <a:t> TITLE</a:t>
                      </a:r>
                    </a:p>
                  </a:txBody>
                  <a:tcPr anchor="b"/>
                </a:tc>
                <a:tc>
                  <a:txBody>
                    <a:bodyPr/>
                    <a:lstStyle/>
                    <a:p>
                      <a:pPr fontAlgn="b"/>
                      <a:r>
                        <a:rPr lang="en-IN" b="1" dirty="0">
                          <a:effectLst/>
                          <a:latin typeface="Times New Roman" panose="02020603050405020304" pitchFamily="18" charset="0"/>
                          <a:cs typeface="Times New Roman" panose="02020603050405020304" pitchFamily="18" charset="0"/>
                        </a:rPr>
                        <a:t>SUMMARY</a:t>
                      </a:r>
                    </a:p>
                  </a:txBody>
                  <a:tcPr anchor="b"/>
                </a:tc>
                <a:tc>
                  <a:txBody>
                    <a:bodyPr/>
                    <a:lstStyle/>
                    <a:p>
                      <a:pPr fontAlgn="b"/>
                      <a:r>
                        <a:rPr lang="en-IN" b="1" dirty="0">
                          <a:effectLst/>
                          <a:latin typeface="Times New Roman" panose="02020603050405020304" pitchFamily="18" charset="0"/>
                          <a:cs typeface="Times New Roman" panose="02020603050405020304" pitchFamily="18" charset="0"/>
                        </a:rPr>
                        <a:t>SOURCE</a:t>
                      </a:r>
                    </a:p>
                  </a:txBody>
                  <a:tcPr anchor="b"/>
                </a:tc>
                <a:tc>
                  <a:txBody>
                    <a:bodyPr/>
                    <a:lstStyle/>
                    <a:p>
                      <a:pPr fontAlgn="b"/>
                      <a:r>
                        <a:rPr lang="en-IN" b="1">
                          <a:effectLst/>
                          <a:latin typeface="Times New Roman" panose="02020603050405020304" pitchFamily="18" charset="0"/>
                          <a:cs typeface="Times New Roman" panose="02020603050405020304" pitchFamily="18" charset="0"/>
                        </a:rPr>
                        <a:t>LIMITATIONS</a:t>
                      </a:r>
                    </a:p>
                  </a:txBody>
                  <a:tcPr anchor="b"/>
                </a:tc>
                <a:tc>
                  <a:txBody>
                    <a:bodyPr/>
                    <a:lstStyle/>
                    <a:p>
                      <a:pPr fontAlgn="b"/>
                      <a:r>
                        <a:rPr lang="en-US" b="1" dirty="0">
                          <a:effectLst/>
                          <a:latin typeface="Times New Roman" panose="02020603050405020304" pitchFamily="18" charset="0"/>
                          <a:cs typeface="Times New Roman" panose="02020603050405020304" pitchFamily="18" charset="0"/>
                        </a:rPr>
                        <a:t>O</a:t>
                      </a:r>
                      <a:r>
                        <a:rPr lang="en-IN" b="1" dirty="0">
                          <a:effectLst/>
                          <a:latin typeface="Times New Roman" panose="02020603050405020304" pitchFamily="18" charset="0"/>
                          <a:cs typeface="Times New Roman" panose="02020603050405020304" pitchFamily="18" charset="0"/>
                        </a:rPr>
                        <a:t>UTCOME</a:t>
                      </a:r>
                    </a:p>
                  </a:txBody>
                  <a:tcPr anchor="b"/>
                </a:tc>
                <a:extLst>
                  <a:ext uri="{0D108BD9-81ED-4DB2-BD59-A6C34878D82A}">
                    <a16:rowId xmlns:a16="http://schemas.microsoft.com/office/drawing/2014/main" val="2783175026"/>
                  </a:ext>
                </a:extLst>
              </a:tr>
              <a:tr h="3980986">
                <a:tc>
                  <a:txBody>
                    <a:bodyPr/>
                    <a:lstStyle/>
                    <a:p>
                      <a:pPr fontAlgn="base"/>
                      <a:r>
                        <a:rPr lang="en-IN" dirty="0">
                          <a:effectLst/>
                          <a:latin typeface="Times New Roman" panose="02020603050405020304" pitchFamily="18" charset="0"/>
                          <a:cs typeface="Times New Roman" panose="02020603050405020304" pitchFamily="18" charset="0"/>
                        </a:rPr>
                        <a:t>1]</a:t>
                      </a:r>
                    </a:p>
                  </a:txBody>
                  <a:tcPr anchor="ctr"/>
                </a:tc>
                <a:tc>
                  <a:txBody>
                    <a:bodyPr/>
                    <a:lstStyle/>
                    <a:p>
                      <a:pPr fontAlgn="base"/>
                      <a:r>
                        <a:rPr lang="en-US" b="1" dirty="0">
                          <a:effectLst/>
                          <a:latin typeface="Times New Roman" panose="02020603050405020304" pitchFamily="18" charset="0"/>
                          <a:cs typeface="Times New Roman" panose="02020603050405020304" pitchFamily="18" charset="0"/>
                        </a:rPr>
                        <a:t>An Ensemble Method for Credit Card Fraud Detection</a:t>
                      </a:r>
                      <a:endParaRPr lang="en-US" dirty="0">
                        <a:effectLst/>
                        <a:latin typeface="Times New Roman" panose="02020603050405020304" pitchFamily="18" charset="0"/>
                        <a:cs typeface="Times New Roman" panose="02020603050405020304" pitchFamily="18" charset="0"/>
                      </a:endParaRPr>
                    </a:p>
                  </a:txBody>
                  <a:tcPr anchor="ctr"/>
                </a:tc>
                <a:tc>
                  <a:txBody>
                    <a:bodyPr/>
                    <a:lstStyle/>
                    <a:p>
                      <a:pPr fontAlgn="base"/>
                      <a:r>
                        <a:rPr lang="en-US" dirty="0">
                          <a:effectLst/>
                          <a:latin typeface="Times New Roman" panose="02020603050405020304" pitchFamily="18" charset="0"/>
                          <a:cs typeface="Times New Roman" panose="02020603050405020304" pitchFamily="18" charset="0"/>
                        </a:rPr>
                        <a:t>This study proposes an ensemble approach combining various classifiers to improve detection rates of fraudulent transactions, achieving 96% accuracy.</a:t>
                      </a:r>
                    </a:p>
                  </a:txBody>
                  <a:tcPr anchor="ctr"/>
                </a:tc>
                <a:tc>
                  <a:txBody>
                    <a:bodyPr/>
                    <a:lstStyle/>
                    <a:p>
                      <a:pPr fontAlgn="base"/>
                      <a:r>
                        <a:rPr lang="en-IN" dirty="0">
                          <a:effectLst/>
                          <a:latin typeface="Times New Roman" panose="02020603050405020304" pitchFamily="18" charset="0"/>
                          <a:cs typeface="Times New Roman" panose="02020603050405020304" pitchFamily="18" charset="0"/>
                        </a:rPr>
                        <a:t>IEEE Xplore</a:t>
                      </a:r>
                    </a:p>
                  </a:txBody>
                  <a:tcPr anchor="ctr"/>
                </a:tc>
                <a:tc>
                  <a:txBody>
                    <a:bodyPr/>
                    <a:lstStyle/>
                    <a:p>
                      <a:pPr fontAlgn="base"/>
                      <a:r>
                        <a:rPr lang="en-US" dirty="0">
                          <a:effectLst/>
                          <a:latin typeface="Times New Roman" panose="02020603050405020304" pitchFamily="18" charset="0"/>
                          <a:cs typeface="Times New Roman" panose="02020603050405020304" pitchFamily="18" charset="0"/>
                        </a:rPr>
                        <a:t>The model's complexity may lead to longer processing times and requires extensive tuning.</a:t>
                      </a:r>
                    </a:p>
                  </a:txBody>
                  <a:tcPr anchor="ctr"/>
                </a:tc>
                <a:tc>
                  <a:txBody>
                    <a:bodyPr/>
                    <a:lstStyle/>
                    <a:p>
                      <a:pPr fontAlgn="base"/>
                      <a:r>
                        <a:rPr lang="en-IN" dirty="0">
                          <a:effectLst/>
                          <a:latin typeface="Times New Roman" panose="02020603050405020304" pitchFamily="18" charset="0"/>
                          <a:cs typeface="Times New Roman" panose="02020603050405020304" pitchFamily="18" charset="0"/>
                        </a:rPr>
                        <a:t>Obtained 96% accuracy.</a:t>
                      </a:r>
                    </a:p>
                  </a:txBody>
                  <a:tcPr anchor="ctr"/>
                </a:tc>
                <a:extLst>
                  <a:ext uri="{0D108BD9-81ED-4DB2-BD59-A6C34878D82A}">
                    <a16:rowId xmlns:a16="http://schemas.microsoft.com/office/drawing/2014/main" val="850464266"/>
                  </a:ext>
                </a:extLst>
              </a:tr>
            </a:tbl>
          </a:graphicData>
        </a:graphic>
      </p:graphicFrame>
    </p:spTree>
    <p:extLst>
      <p:ext uri="{BB962C8B-B14F-4D97-AF65-F5344CB8AC3E}">
        <p14:creationId xmlns:p14="http://schemas.microsoft.com/office/powerpoint/2010/main" val="17254771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a:ln>
                  <a:noFill/>
                </a:ln>
                <a:solidFill>
                  <a:schemeClr val="tx1"/>
                </a:solidFill>
                <a:effectLst/>
                <a:uLnTx/>
                <a:uFillTx/>
                <a:latin typeface="Book Antiqua" pitchFamily="18" charset="0"/>
                <a:ea typeface="+mn-ea"/>
                <a:cs typeface="+mn-cs"/>
              </a:rPr>
              <a:t>Literature Survey</a:t>
            </a:r>
            <a:endParaRPr kumimoji="0" lang="en-US" b="1" i="0" u="none" strike="noStrike" kern="1200" cap="none" spc="0" normalizeH="0" baseline="0" noProof="0">
              <a:ln>
                <a:noFill/>
              </a:ln>
              <a:solidFill>
                <a:schemeClr val="tx1"/>
              </a:solidFill>
              <a:effectLst/>
              <a:uLnTx/>
              <a:uFillTx/>
              <a:latin typeface="Book Antiqua" pitchFamily="18" charset="0"/>
              <a:ea typeface="+mn-ea"/>
              <a:cs typeface="+mn-cs"/>
            </a:endParaRPr>
          </a:p>
        </p:txBody>
      </p:sp>
      <p:sp>
        <p:nvSpPr>
          <p:cNvPr id="5" name="Title 1"/>
          <p:cNvSpPr txBox="1">
            <a:spLocks/>
          </p:cNvSpPr>
          <p:nvPr/>
        </p:nvSpPr>
        <p:spPr>
          <a:xfrm>
            <a:off x="457200" y="1143000"/>
            <a:ext cx="8382000" cy="4800600"/>
          </a:xfrm>
          <a:prstGeom prst="rect">
            <a:avLst/>
          </a:prstGeom>
        </p:spPr>
        <p:txBody>
          <a:bodyPr vert="horz" lIns="91440" tIns="45720" rIns="91440" bIns="45720" rtlCol="0" anchor="ctr">
            <a:normAutofit/>
          </a:bodyPr>
          <a:lstStyle/>
          <a:p>
            <a:pPr algn="just"/>
            <a:endParaRPr lang="en-US" sz="800" b="1"/>
          </a:p>
          <a:p>
            <a:pPr algn="just"/>
            <a:endParaRPr lang="en-US" sz="800" b="1"/>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p:txBody>
      </p:sp>
      <p:sp>
        <p:nvSpPr>
          <p:cNvPr id="10" name="Footer Placeholder 6"/>
          <p:cNvSpPr txBox="1">
            <a:spLocks/>
          </p:cNvSpPr>
          <p:nvPr/>
        </p:nvSpPr>
        <p:spPr>
          <a:xfrm>
            <a:off x="0" y="649287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chemeClr val="tx1"/>
                </a:solidFill>
                <a:effectLst/>
                <a:uLnTx/>
                <a:uFillTx/>
                <a:latin typeface="+mn-lt"/>
                <a:ea typeface="+mn-ea"/>
                <a:cs typeface="+mn-cs"/>
              </a:rPr>
              <a:t>Dept. of ISE, SIT, </a:t>
            </a:r>
            <a:r>
              <a:rPr kumimoji="0" lang="en-IN" sz="1200" b="0" i="0" u="none" strike="noStrike" kern="1200" cap="none" spc="0" normalizeH="0" baseline="0" noProof="0" dirty="0" err="1">
                <a:ln>
                  <a:noFill/>
                </a:ln>
                <a:solidFill>
                  <a:schemeClr val="tx1"/>
                </a:solidFill>
                <a:effectLst/>
                <a:uLnTx/>
                <a:uFillTx/>
                <a:latin typeface="+mn-lt"/>
                <a:ea typeface="+mn-ea"/>
                <a:cs typeface="+mn-cs"/>
              </a:rPr>
              <a:t>Tumkur</a:t>
            </a:r>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pic>
        <p:nvPicPr>
          <p:cNvPr id="11"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92875"/>
            <a:ext cx="375082" cy="382509"/>
          </a:xfrm>
          <a:prstGeom prst="rect">
            <a:avLst/>
          </a:prstGeom>
          <a:noFill/>
        </p:spPr>
      </p:pic>
      <p:sp>
        <p:nvSpPr>
          <p:cNvPr id="12"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Title 1"/>
          <p:cNvSpPr>
            <a:spLocks noGrp="1"/>
          </p:cNvSpPr>
          <p:nvPr>
            <p:ph type="title"/>
          </p:nvPr>
        </p:nvSpPr>
        <p:spPr>
          <a:xfrm>
            <a:off x="457200" y="457200"/>
            <a:ext cx="82296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LITERATURE SURVEY</a:t>
            </a:r>
          </a:p>
        </p:txBody>
      </p:sp>
      <p:graphicFrame>
        <p:nvGraphicFramePr>
          <p:cNvPr id="8" name="Table 8">
            <a:extLst>
              <a:ext uri="{FF2B5EF4-FFF2-40B4-BE49-F238E27FC236}">
                <a16:creationId xmlns:a16="http://schemas.microsoft.com/office/drawing/2014/main" id="{D6265751-D2FF-AB6F-4D34-62A560780728}"/>
              </a:ext>
            </a:extLst>
          </p:cNvPr>
          <p:cNvGraphicFramePr>
            <a:graphicFrameLocks noGrp="1"/>
          </p:cNvGraphicFramePr>
          <p:nvPr>
            <p:extLst>
              <p:ext uri="{D42A27DB-BD31-4B8C-83A1-F6EECF244321}">
                <p14:modId xmlns:p14="http://schemas.microsoft.com/office/powerpoint/2010/main" val="3718580490"/>
              </p:ext>
            </p:extLst>
          </p:nvPr>
        </p:nvGraphicFramePr>
        <p:xfrm>
          <a:off x="680720" y="1249362"/>
          <a:ext cx="7843518" cy="4704019"/>
        </p:xfrm>
        <a:graphic>
          <a:graphicData uri="http://schemas.openxmlformats.org/drawingml/2006/table">
            <a:tbl>
              <a:tblPr firstRow="1" bandRow="1">
                <a:tableStyleId>{93296810-A885-4BE3-A3E7-6D5BEEA58F35}</a:tableStyleId>
              </a:tblPr>
              <a:tblGrid>
                <a:gridCol w="548640">
                  <a:extLst>
                    <a:ext uri="{9D8B030D-6E8A-4147-A177-3AD203B41FA5}">
                      <a16:colId xmlns:a16="http://schemas.microsoft.com/office/drawing/2014/main" val="2348602800"/>
                    </a:ext>
                  </a:extLst>
                </a:gridCol>
                <a:gridCol w="1290320">
                  <a:extLst>
                    <a:ext uri="{9D8B030D-6E8A-4147-A177-3AD203B41FA5}">
                      <a16:colId xmlns:a16="http://schemas.microsoft.com/office/drawing/2014/main" val="2627158018"/>
                    </a:ext>
                  </a:extLst>
                </a:gridCol>
                <a:gridCol w="2082799">
                  <a:extLst>
                    <a:ext uri="{9D8B030D-6E8A-4147-A177-3AD203B41FA5}">
                      <a16:colId xmlns:a16="http://schemas.microsoft.com/office/drawing/2014/main" val="3988470545"/>
                    </a:ext>
                  </a:extLst>
                </a:gridCol>
                <a:gridCol w="965201">
                  <a:extLst>
                    <a:ext uri="{9D8B030D-6E8A-4147-A177-3AD203B41FA5}">
                      <a16:colId xmlns:a16="http://schemas.microsoft.com/office/drawing/2014/main" val="434872651"/>
                    </a:ext>
                  </a:extLst>
                </a:gridCol>
                <a:gridCol w="1649305">
                  <a:extLst>
                    <a:ext uri="{9D8B030D-6E8A-4147-A177-3AD203B41FA5}">
                      <a16:colId xmlns:a16="http://schemas.microsoft.com/office/drawing/2014/main" val="3124997440"/>
                    </a:ext>
                  </a:extLst>
                </a:gridCol>
                <a:gridCol w="1307253">
                  <a:extLst>
                    <a:ext uri="{9D8B030D-6E8A-4147-A177-3AD203B41FA5}">
                      <a16:colId xmlns:a16="http://schemas.microsoft.com/office/drawing/2014/main" val="3003262865"/>
                    </a:ext>
                  </a:extLst>
                </a:gridCol>
              </a:tblGrid>
              <a:tr h="699059">
                <a:tc>
                  <a:txBody>
                    <a:bodyPr/>
                    <a:lstStyle/>
                    <a:p>
                      <a:pPr fontAlgn="b"/>
                      <a:r>
                        <a:rPr lang="en-IN" b="1" dirty="0">
                          <a:effectLst/>
                          <a:latin typeface="Times New Roman" panose="02020603050405020304" pitchFamily="18" charset="0"/>
                          <a:cs typeface="Times New Roman" panose="02020603050405020304" pitchFamily="18" charset="0"/>
                        </a:rPr>
                        <a:t>SI. NO</a:t>
                      </a:r>
                    </a:p>
                  </a:txBody>
                  <a:tcPr anchor="b"/>
                </a:tc>
                <a:tc>
                  <a:txBody>
                    <a:bodyPr/>
                    <a:lstStyle/>
                    <a:p>
                      <a:pPr fontAlgn="b"/>
                      <a:r>
                        <a:rPr lang="en-IN" b="1" dirty="0">
                          <a:effectLst/>
                          <a:latin typeface="Times New Roman" panose="02020603050405020304" pitchFamily="18" charset="0"/>
                          <a:cs typeface="Times New Roman" panose="02020603050405020304" pitchFamily="18" charset="0"/>
                        </a:rPr>
                        <a:t>TITLE</a:t>
                      </a:r>
                    </a:p>
                  </a:txBody>
                  <a:tcPr anchor="b"/>
                </a:tc>
                <a:tc>
                  <a:txBody>
                    <a:bodyPr/>
                    <a:lstStyle/>
                    <a:p>
                      <a:pPr fontAlgn="b"/>
                      <a:r>
                        <a:rPr lang="en-IN" b="1" dirty="0">
                          <a:effectLst/>
                          <a:latin typeface="Times New Roman" panose="02020603050405020304" pitchFamily="18" charset="0"/>
                          <a:cs typeface="Times New Roman" panose="02020603050405020304" pitchFamily="18" charset="0"/>
                        </a:rPr>
                        <a:t>SUMMARY</a:t>
                      </a:r>
                    </a:p>
                  </a:txBody>
                  <a:tcPr anchor="b"/>
                </a:tc>
                <a:tc>
                  <a:txBody>
                    <a:bodyPr/>
                    <a:lstStyle/>
                    <a:p>
                      <a:pPr fontAlgn="b"/>
                      <a:r>
                        <a:rPr lang="en-IN" b="1" dirty="0">
                          <a:effectLst/>
                          <a:latin typeface="Times New Roman" panose="02020603050405020304" pitchFamily="18" charset="0"/>
                          <a:cs typeface="Times New Roman" panose="02020603050405020304" pitchFamily="18" charset="0"/>
                        </a:rPr>
                        <a:t>SOURCE</a:t>
                      </a:r>
                    </a:p>
                  </a:txBody>
                  <a:tcPr anchor="b"/>
                </a:tc>
                <a:tc>
                  <a:txBody>
                    <a:bodyPr/>
                    <a:lstStyle/>
                    <a:p>
                      <a:pPr fontAlgn="b"/>
                      <a:r>
                        <a:rPr lang="en-IN" b="1">
                          <a:effectLst/>
                          <a:latin typeface="Times New Roman" panose="02020603050405020304" pitchFamily="18" charset="0"/>
                          <a:cs typeface="Times New Roman" panose="02020603050405020304" pitchFamily="18" charset="0"/>
                        </a:rPr>
                        <a:t>LIMITATIONS</a:t>
                      </a:r>
                    </a:p>
                  </a:txBody>
                  <a:tcPr anchor="b"/>
                </a:tc>
                <a:tc>
                  <a:txBody>
                    <a:bodyPr/>
                    <a:lstStyle/>
                    <a:p>
                      <a:pPr fontAlgn="b"/>
                      <a:r>
                        <a:rPr lang="en-IN" b="1" dirty="0">
                          <a:effectLst/>
                          <a:latin typeface="Times New Roman" panose="02020603050405020304" pitchFamily="18" charset="0"/>
                          <a:cs typeface="Times New Roman" panose="02020603050405020304" pitchFamily="18" charset="0"/>
                        </a:rPr>
                        <a:t>OUTCOME</a:t>
                      </a:r>
                    </a:p>
                  </a:txBody>
                  <a:tcPr anchor="b"/>
                </a:tc>
                <a:extLst>
                  <a:ext uri="{0D108BD9-81ED-4DB2-BD59-A6C34878D82A}">
                    <a16:rowId xmlns:a16="http://schemas.microsoft.com/office/drawing/2014/main" val="568449573"/>
                  </a:ext>
                </a:extLst>
              </a:tr>
              <a:tr h="4004960">
                <a:tc>
                  <a:txBody>
                    <a:bodyPr/>
                    <a:lstStyle/>
                    <a:p>
                      <a:pPr fontAlgn="base"/>
                      <a:r>
                        <a:rPr lang="en-IN" dirty="0">
                          <a:effectLst/>
                          <a:latin typeface="Times New Roman" panose="02020603050405020304" pitchFamily="18" charset="0"/>
                          <a:cs typeface="Times New Roman" panose="02020603050405020304" pitchFamily="18" charset="0"/>
                        </a:rPr>
                        <a:t>2]</a:t>
                      </a:r>
                    </a:p>
                  </a:txBody>
                  <a:tcPr anchor="ctr"/>
                </a:tc>
                <a:tc>
                  <a:txBody>
                    <a:bodyPr/>
                    <a:lstStyle/>
                    <a:p>
                      <a:pPr fontAlgn="base"/>
                      <a:r>
                        <a:rPr lang="en-US" b="1" dirty="0">
                          <a:effectLst/>
                          <a:latin typeface="Times New Roman" panose="02020603050405020304" pitchFamily="18" charset="0"/>
                          <a:cs typeface="Times New Roman" panose="02020603050405020304" pitchFamily="18" charset="0"/>
                        </a:rPr>
                        <a:t>Deep Learning for Fraud Detection in Financial Transactions</a:t>
                      </a:r>
                      <a:endParaRPr lang="en-US" dirty="0">
                        <a:effectLst/>
                        <a:latin typeface="Times New Roman" panose="02020603050405020304" pitchFamily="18" charset="0"/>
                        <a:cs typeface="Times New Roman" panose="02020603050405020304" pitchFamily="18" charset="0"/>
                      </a:endParaRPr>
                    </a:p>
                  </a:txBody>
                  <a:tcPr anchor="ctr"/>
                </a:tc>
                <a:tc>
                  <a:txBody>
                    <a:bodyPr/>
                    <a:lstStyle/>
                    <a:p>
                      <a:pPr fontAlgn="base"/>
                      <a:r>
                        <a:rPr lang="en-US" dirty="0">
                          <a:effectLst/>
                          <a:latin typeface="Times New Roman" panose="02020603050405020304" pitchFamily="18" charset="0"/>
                          <a:cs typeface="Times New Roman" panose="02020603050405020304" pitchFamily="18" charset="0"/>
                        </a:rPr>
                        <a:t>Explores the use of deep learning techniques, particularly LSTM networks, to detect fraudulent activities in real-time with an accuracy of 94%.</a:t>
                      </a:r>
                    </a:p>
                  </a:txBody>
                  <a:tcPr anchor="ctr"/>
                </a:tc>
                <a:tc>
                  <a:txBody>
                    <a:bodyPr/>
                    <a:lstStyle/>
                    <a:p>
                      <a:pPr fontAlgn="base"/>
                      <a:r>
                        <a:rPr lang="en-IN" dirty="0">
                          <a:effectLst/>
                          <a:latin typeface="Times New Roman" panose="02020603050405020304" pitchFamily="18" charset="0"/>
                          <a:cs typeface="Times New Roman" panose="02020603050405020304" pitchFamily="18" charset="0"/>
                        </a:rPr>
                        <a:t>IEEE Xplore</a:t>
                      </a:r>
                    </a:p>
                  </a:txBody>
                  <a:tcPr anchor="ctr"/>
                </a:tc>
                <a:tc>
                  <a:txBody>
                    <a:bodyPr/>
                    <a:lstStyle/>
                    <a:p>
                      <a:pPr fontAlgn="base"/>
                      <a:r>
                        <a:rPr lang="en-US" dirty="0">
                          <a:effectLst/>
                          <a:latin typeface="Times New Roman" panose="02020603050405020304" pitchFamily="18" charset="0"/>
                          <a:cs typeface="Times New Roman" panose="02020603050405020304" pitchFamily="18" charset="0"/>
                        </a:rPr>
                        <a:t>The dependency on high-quality data limits its applicability in environments with poor data quality.</a:t>
                      </a:r>
                    </a:p>
                  </a:txBody>
                  <a:tcPr anchor="ctr"/>
                </a:tc>
                <a:tc>
                  <a:txBody>
                    <a:bodyPr/>
                    <a:lstStyle/>
                    <a:p>
                      <a:pPr fontAlgn="base"/>
                      <a:r>
                        <a:rPr lang="en-IN" dirty="0">
                          <a:effectLst/>
                          <a:latin typeface="Times New Roman" panose="02020603050405020304" pitchFamily="18" charset="0"/>
                          <a:cs typeface="Times New Roman" panose="02020603050405020304" pitchFamily="18" charset="0"/>
                        </a:rPr>
                        <a:t>Obtained 94% accuracy.</a:t>
                      </a:r>
                    </a:p>
                  </a:txBody>
                  <a:tcPr anchor="ctr"/>
                </a:tc>
                <a:extLst>
                  <a:ext uri="{0D108BD9-81ED-4DB2-BD59-A6C34878D82A}">
                    <a16:rowId xmlns:a16="http://schemas.microsoft.com/office/drawing/2014/main" val="1914119540"/>
                  </a:ext>
                </a:extLst>
              </a:tr>
            </a:tbl>
          </a:graphicData>
        </a:graphic>
      </p:graphicFrame>
    </p:spTree>
    <p:extLst>
      <p:ext uri="{BB962C8B-B14F-4D97-AF65-F5344CB8AC3E}">
        <p14:creationId xmlns:p14="http://schemas.microsoft.com/office/powerpoint/2010/main" val="191631535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a:ln>
                  <a:noFill/>
                </a:ln>
                <a:solidFill>
                  <a:schemeClr val="tx1"/>
                </a:solidFill>
                <a:effectLst/>
                <a:uLnTx/>
                <a:uFillTx/>
                <a:latin typeface="Book Antiqua" pitchFamily="18" charset="0"/>
                <a:ea typeface="+mn-ea"/>
                <a:cs typeface="+mn-cs"/>
              </a:rPr>
              <a:t>Literature Survey</a:t>
            </a:r>
            <a:endParaRPr kumimoji="0" lang="en-US" b="1" i="0" u="none" strike="noStrike" kern="1200" cap="none" spc="0" normalizeH="0" baseline="0" noProof="0">
              <a:ln>
                <a:noFill/>
              </a:ln>
              <a:solidFill>
                <a:schemeClr val="tx1"/>
              </a:solidFill>
              <a:effectLst/>
              <a:uLnTx/>
              <a:uFillTx/>
              <a:latin typeface="Book Antiqua" pitchFamily="18" charset="0"/>
              <a:ea typeface="+mn-ea"/>
              <a:cs typeface="+mn-cs"/>
            </a:endParaRPr>
          </a:p>
        </p:txBody>
      </p:sp>
      <p:sp>
        <p:nvSpPr>
          <p:cNvPr id="5" name="Title 1"/>
          <p:cNvSpPr txBox="1">
            <a:spLocks/>
          </p:cNvSpPr>
          <p:nvPr/>
        </p:nvSpPr>
        <p:spPr>
          <a:xfrm>
            <a:off x="457200" y="1143000"/>
            <a:ext cx="8382000" cy="4800600"/>
          </a:xfrm>
          <a:prstGeom prst="rect">
            <a:avLst/>
          </a:prstGeom>
        </p:spPr>
        <p:txBody>
          <a:bodyPr vert="horz" lIns="91440" tIns="45720" rIns="91440" bIns="45720" rtlCol="0" anchor="ctr">
            <a:normAutofit/>
          </a:bodyPr>
          <a:lstStyle/>
          <a:p>
            <a:pPr algn="just"/>
            <a:endParaRPr lang="en-US" sz="800" b="1"/>
          </a:p>
          <a:p>
            <a:pPr algn="just"/>
            <a:endParaRPr lang="en-US" sz="800" b="1"/>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p:txBody>
      </p:sp>
      <p:sp>
        <p:nvSpPr>
          <p:cNvPr id="10" name="Footer Placeholder 6"/>
          <p:cNvSpPr txBox="1">
            <a:spLocks/>
          </p:cNvSpPr>
          <p:nvPr/>
        </p:nvSpPr>
        <p:spPr>
          <a:xfrm>
            <a:off x="0" y="649287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chemeClr val="tx1"/>
                </a:solidFill>
                <a:effectLst/>
                <a:uLnTx/>
                <a:uFillTx/>
                <a:latin typeface="+mn-lt"/>
                <a:ea typeface="+mn-ea"/>
                <a:cs typeface="+mn-cs"/>
              </a:rPr>
              <a:t>Dept. of ISE, SIT, </a:t>
            </a:r>
            <a:r>
              <a:rPr kumimoji="0" lang="en-IN" sz="1200" b="0" i="0" u="none" strike="noStrike" kern="1200" cap="none" spc="0" normalizeH="0" baseline="0" noProof="0" dirty="0" err="1">
                <a:ln>
                  <a:noFill/>
                </a:ln>
                <a:solidFill>
                  <a:schemeClr val="tx1"/>
                </a:solidFill>
                <a:effectLst/>
                <a:uLnTx/>
                <a:uFillTx/>
                <a:latin typeface="+mn-lt"/>
                <a:ea typeface="+mn-ea"/>
                <a:cs typeface="+mn-cs"/>
              </a:rPr>
              <a:t>Tumkur</a:t>
            </a:r>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pic>
        <p:nvPicPr>
          <p:cNvPr id="11"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92875"/>
            <a:ext cx="375082" cy="382509"/>
          </a:xfrm>
          <a:prstGeom prst="rect">
            <a:avLst/>
          </a:prstGeom>
          <a:noFill/>
        </p:spPr>
      </p:pic>
      <p:sp>
        <p:nvSpPr>
          <p:cNvPr id="12"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Title 1"/>
          <p:cNvSpPr>
            <a:spLocks noGrp="1"/>
          </p:cNvSpPr>
          <p:nvPr>
            <p:ph type="title"/>
          </p:nvPr>
        </p:nvSpPr>
        <p:spPr>
          <a:xfrm>
            <a:off x="457200" y="457200"/>
            <a:ext cx="82296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LITERATURE SURVEY</a:t>
            </a:r>
          </a:p>
        </p:txBody>
      </p:sp>
      <p:graphicFrame>
        <p:nvGraphicFramePr>
          <p:cNvPr id="8" name="Table 8">
            <a:extLst>
              <a:ext uri="{FF2B5EF4-FFF2-40B4-BE49-F238E27FC236}">
                <a16:creationId xmlns:a16="http://schemas.microsoft.com/office/drawing/2014/main" id="{D6265751-D2FF-AB6F-4D34-62A560780728}"/>
              </a:ext>
            </a:extLst>
          </p:cNvPr>
          <p:cNvGraphicFramePr>
            <a:graphicFrameLocks noGrp="1"/>
          </p:cNvGraphicFramePr>
          <p:nvPr>
            <p:extLst>
              <p:ext uri="{D42A27DB-BD31-4B8C-83A1-F6EECF244321}">
                <p14:modId xmlns:p14="http://schemas.microsoft.com/office/powerpoint/2010/main" val="264771733"/>
              </p:ext>
            </p:extLst>
          </p:nvPr>
        </p:nvGraphicFramePr>
        <p:xfrm>
          <a:off x="660400" y="1249362"/>
          <a:ext cx="7843518" cy="4704019"/>
        </p:xfrm>
        <a:graphic>
          <a:graphicData uri="http://schemas.openxmlformats.org/drawingml/2006/table">
            <a:tbl>
              <a:tblPr firstRow="1" bandRow="1">
                <a:tableStyleId>{93296810-A885-4BE3-A3E7-6D5BEEA58F35}</a:tableStyleId>
              </a:tblPr>
              <a:tblGrid>
                <a:gridCol w="548640">
                  <a:extLst>
                    <a:ext uri="{9D8B030D-6E8A-4147-A177-3AD203B41FA5}">
                      <a16:colId xmlns:a16="http://schemas.microsoft.com/office/drawing/2014/main" val="2348602800"/>
                    </a:ext>
                  </a:extLst>
                </a:gridCol>
                <a:gridCol w="1290320">
                  <a:extLst>
                    <a:ext uri="{9D8B030D-6E8A-4147-A177-3AD203B41FA5}">
                      <a16:colId xmlns:a16="http://schemas.microsoft.com/office/drawing/2014/main" val="2627158018"/>
                    </a:ext>
                  </a:extLst>
                </a:gridCol>
                <a:gridCol w="2082799">
                  <a:extLst>
                    <a:ext uri="{9D8B030D-6E8A-4147-A177-3AD203B41FA5}">
                      <a16:colId xmlns:a16="http://schemas.microsoft.com/office/drawing/2014/main" val="3988470545"/>
                    </a:ext>
                  </a:extLst>
                </a:gridCol>
                <a:gridCol w="965201">
                  <a:extLst>
                    <a:ext uri="{9D8B030D-6E8A-4147-A177-3AD203B41FA5}">
                      <a16:colId xmlns:a16="http://schemas.microsoft.com/office/drawing/2014/main" val="434872651"/>
                    </a:ext>
                  </a:extLst>
                </a:gridCol>
                <a:gridCol w="1649305">
                  <a:extLst>
                    <a:ext uri="{9D8B030D-6E8A-4147-A177-3AD203B41FA5}">
                      <a16:colId xmlns:a16="http://schemas.microsoft.com/office/drawing/2014/main" val="3124997440"/>
                    </a:ext>
                  </a:extLst>
                </a:gridCol>
                <a:gridCol w="1307253">
                  <a:extLst>
                    <a:ext uri="{9D8B030D-6E8A-4147-A177-3AD203B41FA5}">
                      <a16:colId xmlns:a16="http://schemas.microsoft.com/office/drawing/2014/main" val="3003262865"/>
                    </a:ext>
                  </a:extLst>
                </a:gridCol>
              </a:tblGrid>
              <a:tr h="699059">
                <a:tc>
                  <a:txBody>
                    <a:bodyPr/>
                    <a:lstStyle/>
                    <a:p>
                      <a:pPr fontAlgn="b"/>
                      <a:r>
                        <a:rPr lang="en-IN" b="1" dirty="0">
                          <a:effectLst/>
                          <a:latin typeface="Times New Roman" panose="02020603050405020304" pitchFamily="18" charset="0"/>
                          <a:cs typeface="Times New Roman" panose="02020603050405020304" pitchFamily="18" charset="0"/>
                        </a:rPr>
                        <a:t>SI. NO</a:t>
                      </a:r>
                    </a:p>
                  </a:txBody>
                  <a:tcPr anchor="b"/>
                </a:tc>
                <a:tc>
                  <a:txBody>
                    <a:bodyPr/>
                    <a:lstStyle/>
                    <a:p>
                      <a:pPr fontAlgn="b"/>
                      <a:r>
                        <a:rPr lang="en-IN" b="1" dirty="0">
                          <a:effectLst/>
                          <a:latin typeface="Times New Roman" panose="02020603050405020304" pitchFamily="18" charset="0"/>
                          <a:cs typeface="Times New Roman" panose="02020603050405020304" pitchFamily="18" charset="0"/>
                        </a:rPr>
                        <a:t>TITLE</a:t>
                      </a:r>
                    </a:p>
                  </a:txBody>
                  <a:tcPr anchor="b"/>
                </a:tc>
                <a:tc>
                  <a:txBody>
                    <a:bodyPr/>
                    <a:lstStyle/>
                    <a:p>
                      <a:pPr fontAlgn="b"/>
                      <a:r>
                        <a:rPr lang="en-IN" b="1" dirty="0">
                          <a:effectLst/>
                          <a:latin typeface="Times New Roman" panose="02020603050405020304" pitchFamily="18" charset="0"/>
                          <a:cs typeface="Times New Roman" panose="02020603050405020304" pitchFamily="18" charset="0"/>
                        </a:rPr>
                        <a:t>SUMMARY</a:t>
                      </a:r>
                    </a:p>
                  </a:txBody>
                  <a:tcPr anchor="b"/>
                </a:tc>
                <a:tc>
                  <a:txBody>
                    <a:bodyPr/>
                    <a:lstStyle/>
                    <a:p>
                      <a:pPr fontAlgn="b"/>
                      <a:r>
                        <a:rPr lang="en-IN" b="1" dirty="0">
                          <a:effectLst/>
                          <a:latin typeface="Times New Roman" panose="02020603050405020304" pitchFamily="18" charset="0"/>
                          <a:cs typeface="Times New Roman" panose="02020603050405020304" pitchFamily="18" charset="0"/>
                        </a:rPr>
                        <a:t>SOURCE</a:t>
                      </a:r>
                    </a:p>
                  </a:txBody>
                  <a:tcPr anchor="b"/>
                </a:tc>
                <a:tc>
                  <a:txBody>
                    <a:bodyPr/>
                    <a:lstStyle/>
                    <a:p>
                      <a:pPr fontAlgn="b"/>
                      <a:r>
                        <a:rPr lang="en-IN" b="1">
                          <a:effectLst/>
                          <a:latin typeface="Times New Roman" panose="02020603050405020304" pitchFamily="18" charset="0"/>
                          <a:cs typeface="Times New Roman" panose="02020603050405020304" pitchFamily="18" charset="0"/>
                        </a:rPr>
                        <a:t>LIMITATIONS</a:t>
                      </a:r>
                    </a:p>
                  </a:txBody>
                  <a:tcPr anchor="b"/>
                </a:tc>
                <a:tc>
                  <a:txBody>
                    <a:bodyPr/>
                    <a:lstStyle/>
                    <a:p>
                      <a:pPr fontAlgn="b"/>
                      <a:r>
                        <a:rPr lang="en-US" b="1" dirty="0">
                          <a:effectLst/>
                          <a:latin typeface="Times New Roman" panose="02020603050405020304" pitchFamily="18" charset="0"/>
                          <a:cs typeface="Times New Roman" panose="02020603050405020304" pitchFamily="18" charset="0"/>
                        </a:rPr>
                        <a:t>O</a:t>
                      </a:r>
                      <a:r>
                        <a:rPr lang="en-IN" b="1" dirty="0">
                          <a:effectLst/>
                          <a:latin typeface="Times New Roman" panose="02020603050405020304" pitchFamily="18" charset="0"/>
                          <a:cs typeface="Times New Roman" panose="02020603050405020304" pitchFamily="18" charset="0"/>
                        </a:rPr>
                        <a:t>UTCOME</a:t>
                      </a:r>
                    </a:p>
                  </a:txBody>
                  <a:tcPr anchor="b"/>
                </a:tc>
                <a:extLst>
                  <a:ext uri="{0D108BD9-81ED-4DB2-BD59-A6C34878D82A}">
                    <a16:rowId xmlns:a16="http://schemas.microsoft.com/office/drawing/2014/main" val="568449573"/>
                  </a:ext>
                </a:extLst>
              </a:tr>
              <a:tr h="4004960">
                <a:tc>
                  <a:txBody>
                    <a:bodyPr/>
                    <a:lstStyle/>
                    <a:p>
                      <a:pPr algn="l" fontAlgn="base"/>
                      <a:r>
                        <a:rPr lang="en-IN" dirty="0">
                          <a:effectLst/>
                          <a:latin typeface="Times New Roman" panose="02020603050405020304" pitchFamily="18" charset="0"/>
                          <a:cs typeface="Times New Roman" panose="02020603050405020304" pitchFamily="18" charset="0"/>
                        </a:rPr>
                        <a:t>3]</a:t>
                      </a:r>
                    </a:p>
                  </a:txBody>
                  <a:tcPr anchor="ctr"/>
                </a:tc>
                <a:tc>
                  <a:txBody>
                    <a:bodyPr/>
                    <a:lstStyle/>
                    <a:p>
                      <a:pPr algn="l" fontAlgn="base"/>
                      <a:r>
                        <a:rPr lang="en-US" b="1" dirty="0">
                          <a:effectLst/>
                          <a:latin typeface="Times New Roman" panose="02020603050405020304" pitchFamily="18" charset="0"/>
                          <a:cs typeface="Times New Roman" panose="02020603050405020304" pitchFamily="18" charset="0"/>
                        </a:rPr>
                        <a:t>Fraud Detection Using Machine Learning Techniques</a:t>
                      </a:r>
                      <a:endParaRPr lang="en-US" dirty="0">
                        <a:effectLst/>
                        <a:latin typeface="Times New Roman" panose="02020603050405020304" pitchFamily="18" charset="0"/>
                        <a:cs typeface="Times New Roman" panose="02020603050405020304" pitchFamily="18" charset="0"/>
                      </a:endParaRPr>
                    </a:p>
                  </a:txBody>
                  <a:tcPr anchor="ctr"/>
                </a:tc>
                <a:tc>
                  <a:txBody>
                    <a:bodyPr/>
                    <a:lstStyle/>
                    <a:p>
                      <a:pPr algn="l" fontAlgn="base"/>
                      <a:r>
                        <a:rPr lang="en-US" dirty="0">
                          <a:effectLst/>
                          <a:latin typeface="Times New Roman" panose="02020603050405020304" pitchFamily="18" charset="0"/>
                          <a:cs typeface="Times New Roman" panose="02020603050405020304" pitchFamily="18" charset="0"/>
                        </a:rPr>
                        <a:t>Utilizes various machine learning algorithms, including SVM and Random Forest, to identify fraudulent transactions with a detection accuracy of 91%.</a:t>
                      </a:r>
                    </a:p>
                  </a:txBody>
                  <a:tcPr anchor="ctr"/>
                </a:tc>
                <a:tc>
                  <a:txBody>
                    <a:bodyPr/>
                    <a:lstStyle/>
                    <a:p>
                      <a:pPr algn="l" fontAlgn="base"/>
                      <a:r>
                        <a:rPr lang="en-IN" dirty="0">
                          <a:effectLst/>
                          <a:latin typeface="Times New Roman" panose="02020603050405020304" pitchFamily="18" charset="0"/>
                          <a:cs typeface="Times New Roman" panose="02020603050405020304" pitchFamily="18" charset="0"/>
                        </a:rPr>
                        <a:t>IEEE Xplore</a:t>
                      </a:r>
                    </a:p>
                  </a:txBody>
                  <a:tcPr anchor="ctr"/>
                </a:tc>
                <a:tc>
                  <a:txBody>
                    <a:bodyPr/>
                    <a:lstStyle/>
                    <a:p>
                      <a:pPr algn="l" fontAlgn="base"/>
                      <a:r>
                        <a:rPr lang="en-US" dirty="0">
                          <a:effectLst/>
                          <a:latin typeface="Times New Roman" panose="02020603050405020304" pitchFamily="18" charset="0"/>
                          <a:cs typeface="Times New Roman" panose="02020603050405020304" pitchFamily="18" charset="0"/>
                        </a:rPr>
                        <a:t>The need for ongoing model retraining to maintain effectiveness against evolving fraud patterns.</a:t>
                      </a:r>
                    </a:p>
                  </a:txBody>
                  <a:tcPr anchor="ctr"/>
                </a:tc>
                <a:tc>
                  <a:txBody>
                    <a:bodyPr/>
                    <a:lstStyle/>
                    <a:p>
                      <a:pPr algn="l" fontAlgn="base"/>
                      <a:r>
                        <a:rPr lang="en-IN" dirty="0">
                          <a:effectLst/>
                          <a:latin typeface="Times New Roman" panose="02020603050405020304" pitchFamily="18" charset="0"/>
                          <a:cs typeface="Times New Roman" panose="02020603050405020304" pitchFamily="18" charset="0"/>
                        </a:rPr>
                        <a:t>Obtained 91% accuracy.</a:t>
                      </a:r>
                    </a:p>
                  </a:txBody>
                  <a:tcPr anchor="ctr"/>
                </a:tc>
                <a:extLst>
                  <a:ext uri="{0D108BD9-81ED-4DB2-BD59-A6C34878D82A}">
                    <a16:rowId xmlns:a16="http://schemas.microsoft.com/office/drawing/2014/main" val="1914119540"/>
                  </a:ext>
                </a:extLst>
              </a:tr>
            </a:tbl>
          </a:graphicData>
        </a:graphic>
      </p:graphicFrame>
    </p:spTree>
    <p:extLst>
      <p:ext uri="{BB962C8B-B14F-4D97-AF65-F5344CB8AC3E}">
        <p14:creationId xmlns:p14="http://schemas.microsoft.com/office/powerpoint/2010/main" val="32189201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a:ln>
                  <a:noFill/>
                </a:ln>
                <a:solidFill>
                  <a:schemeClr val="tx1"/>
                </a:solidFill>
                <a:effectLst/>
                <a:uLnTx/>
                <a:uFillTx/>
                <a:latin typeface="Book Antiqua" pitchFamily="18" charset="0"/>
                <a:ea typeface="+mn-ea"/>
                <a:cs typeface="+mn-cs"/>
              </a:rPr>
              <a:t>Literature Survey</a:t>
            </a:r>
            <a:endParaRPr kumimoji="0" lang="en-US" b="1" i="0" u="none" strike="noStrike" kern="1200" cap="none" spc="0" normalizeH="0" baseline="0" noProof="0">
              <a:ln>
                <a:noFill/>
              </a:ln>
              <a:solidFill>
                <a:schemeClr val="tx1"/>
              </a:solidFill>
              <a:effectLst/>
              <a:uLnTx/>
              <a:uFillTx/>
              <a:latin typeface="Book Antiqua" pitchFamily="18" charset="0"/>
              <a:ea typeface="+mn-ea"/>
              <a:cs typeface="+mn-cs"/>
            </a:endParaRPr>
          </a:p>
        </p:txBody>
      </p:sp>
      <p:sp>
        <p:nvSpPr>
          <p:cNvPr id="5" name="Title 1"/>
          <p:cNvSpPr txBox="1">
            <a:spLocks/>
          </p:cNvSpPr>
          <p:nvPr/>
        </p:nvSpPr>
        <p:spPr>
          <a:xfrm>
            <a:off x="457200" y="1143000"/>
            <a:ext cx="8382000" cy="4800600"/>
          </a:xfrm>
          <a:prstGeom prst="rect">
            <a:avLst/>
          </a:prstGeom>
        </p:spPr>
        <p:txBody>
          <a:bodyPr vert="horz" lIns="91440" tIns="45720" rIns="91440" bIns="45720" rtlCol="0" anchor="ctr">
            <a:normAutofit/>
          </a:bodyPr>
          <a:lstStyle/>
          <a:p>
            <a:pPr algn="just"/>
            <a:endParaRPr lang="en-US" sz="800" b="1"/>
          </a:p>
          <a:p>
            <a:pPr algn="just"/>
            <a:endParaRPr lang="en-US" sz="800" b="1"/>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p:txBody>
      </p:sp>
      <p:sp>
        <p:nvSpPr>
          <p:cNvPr id="10" name="Footer Placeholder 6"/>
          <p:cNvSpPr txBox="1">
            <a:spLocks/>
          </p:cNvSpPr>
          <p:nvPr/>
        </p:nvSpPr>
        <p:spPr>
          <a:xfrm>
            <a:off x="0" y="649287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chemeClr val="tx1"/>
                </a:solidFill>
                <a:effectLst/>
                <a:uLnTx/>
                <a:uFillTx/>
                <a:latin typeface="+mn-lt"/>
                <a:ea typeface="+mn-ea"/>
                <a:cs typeface="+mn-cs"/>
              </a:rPr>
              <a:t>Dept. of ISE, SIT, </a:t>
            </a:r>
            <a:r>
              <a:rPr kumimoji="0" lang="en-IN" sz="1200" b="0" i="0" u="none" strike="noStrike" kern="1200" cap="none" spc="0" normalizeH="0" baseline="0" noProof="0" dirty="0" err="1">
                <a:ln>
                  <a:noFill/>
                </a:ln>
                <a:solidFill>
                  <a:schemeClr val="tx1"/>
                </a:solidFill>
                <a:effectLst/>
                <a:uLnTx/>
                <a:uFillTx/>
                <a:latin typeface="+mn-lt"/>
                <a:ea typeface="+mn-ea"/>
                <a:cs typeface="+mn-cs"/>
              </a:rPr>
              <a:t>Tumkur</a:t>
            </a:r>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pic>
        <p:nvPicPr>
          <p:cNvPr id="11"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84182"/>
            <a:ext cx="375082" cy="382509"/>
          </a:xfrm>
          <a:prstGeom prst="rect">
            <a:avLst/>
          </a:prstGeom>
          <a:noFill/>
        </p:spPr>
      </p:pic>
      <p:sp>
        <p:nvSpPr>
          <p:cNvPr id="12"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Title 1"/>
          <p:cNvSpPr>
            <a:spLocks noGrp="1"/>
          </p:cNvSpPr>
          <p:nvPr>
            <p:ph type="title"/>
          </p:nvPr>
        </p:nvSpPr>
        <p:spPr>
          <a:xfrm>
            <a:off x="457200" y="457200"/>
            <a:ext cx="82296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LITERATURE SURVEY</a:t>
            </a:r>
          </a:p>
        </p:txBody>
      </p:sp>
      <p:graphicFrame>
        <p:nvGraphicFramePr>
          <p:cNvPr id="8" name="Table 8">
            <a:extLst>
              <a:ext uri="{FF2B5EF4-FFF2-40B4-BE49-F238E27FC236}">
                <a16:creationId xmlns:a16="http://schemas.microsoft.com/office/drawing/2014/main" id="{D6265751-D2FF-AB6F-4D34-62A560780728}"/>
              </a:ext>
            </a:extLst>
          </p:cNvPr>
          <p:cNvGraphicFramePr>
            <a:graphicFrameLocks noGrp="1"/>
          </p:cNvGraphicFramePr>
          <p:nvPr>
            <p:extLst>
              <p:ext uri="{D42A27DB-BD31-4B8C-83A1-F6EECF244321}">
                <p14:modId xmlns:p14="http://schemas.microsoft.com/office/powerpoint/2010/main" val="3321362376"/>
              </p:ext>
            </p:extLst>
          </p:nvPr>
        </p:nvGraphicFramePr>
        <p:xfrm>
          <a:off x="660400" y="1249362"/>
          <a:ext cx="7853678" cy="4704019"/>
        </p:xfrm>
        <a:graphic>
          <a:graphicData uri="http://schemas.openxmlformats.org/drawingml/2006/table">
            <a:tbl>
              <a:tblPr firstRow="1" bandRow="1">
                <a:tableStyleId>{93296810-A885-4BE3-A3E7-6D5BEEA58F35}</a:tableStyleId>
              </a:tblPr>
              <a:tblGrid>
                <a:gridCol w="558800">
                  <a:extLst>
                    <a:ext uri="{9D8B030D-6E8A-4147-A177-3AD203B41FA5}">
                      <a16:colId xmlns:a16="http://schemas.microsoft.com/office/drawing/2014/main" val="2348602800"/>
                    </a:ext>
                  </a:extLst>
                </a:gridCol>
                <a:gridCol w="1290320">
                  <a:extLst>
                    <a:ext uri="{9D8B030D-6E8A-4147-A177-3AD203B41FA5}">
                      <a16:colId xmlns:a16="http://schemas.microsoft.com/office/drawing/2014/main" val="2627158018"/>
                    </a:ext>
                  </a:extLst>
                </a:gridCol>
                <a:gridCol w="1869440">
                  <a:extLst>
                    <a:ext uri="{9D8B030D-6E8A-4147-A177-3AD203B41FA5}">
                      <a16:colId xmlns:a16="http://schemas.microsoft.com/office/drawing/2014/main" val="3988470545"/>
                    </a:ext>
                  </a:extLst>
                </a:gridCol>
                <a:gridCol w="944880">
                  <a:extLst>
                    <a:ext uri="{9D8B030D-6E8A-4147-A177-3AD203B41FA5}">
                      <a16:colId xmlns:a16="http://schemas.microsoft.com/office/drawing/2014/main" val="434872651"/>
                    </a:ext>
                  </a:extLst>
                </a:gridCol>
                <a:gridCol w="1828800">
                  <a:extLst>
                    <a:ext uri="{9D8B030D-6E8A-4147-A177-3AD203B41FA5}">
                      <a16:colId xmlns:a16="http://schemas.microsoft.com/office/drawing/2014/main" val="3124997440"/>
                    </a:ext>
                  </a:extLst>
                </a:gridCol>
                <a:gridCol w="1361438">
                  <a:extLst>
                    <a:ext uri="{9D8B030D-6E8A-4147-A177-3AD203B41FA5}">
                      <a16:colId xmlns:a16="http://schemas.microsoft.com/office/drawing/2014/main" val="3003262865"/>
                    </a:ext>
                  </a:extLst>
                </a:gridCol>
              </a:tblGrid>
              <a:tr h="699059">
                <a:tc>
                  <a:txBody>
                    <a:bodyPr/>
                    <a:lstStyle/>
                    <a:p>
                      <a:pPr fontAlgn="b"/>
                      <a:r>
                        <a:rPr lang="en-IN" b="1" dirty="0">
                          <a:effectLst/>
                          <a:latin typeface="Times New Roman" panose="02020603050405020304" pitchFamily="18" charset="0"/>
                          <a:cs typeface="Times New Roman" panose="02020603050405020304" pitchFamily="18" charset="0"/>
                        </a:rPr>
                        <a:t>SI. NO</a:t>
                      </a:r>
                    </a:p>
                  </a:txBody>
                  <a:tcPr anchor="b"/>
                </a:tc>
                <a:tc>
                  <a:txBody>
                    <a:bodyPr/>
                    <a:lstStyle/>
                    <a:p>
                      <a:pPr fontAlgn="b"/>
                      <a:r>
                        <a:rPr lang="en-IN" b="1" dirty="0">
                          <a:effectLst/>
                          <a:latin typeface="Times New Roman" panose="02020603050405020304" pitchFamily="18" charset="0"/>
                          <a:cs typeface="Times New Roman" panose="02020603050405020304" pitchFamily="18" charset="0"/>
                        </a:rPr>
                        <a:t>TITLE</a:t>
                      </a:r>
                    </a:p>
                  </a:txBody>
                  <a:tcPr anchor="b"/>
                </a:tc>
                <a:tc>
                  <a:txBody>
                    <a:bodyPr/>
                    <a:lstStyle/>
                    <a:p>
                      <a:pPr fontAlgn="b"/>
                      <a:r>
                        <a:rPr lang="en-IN" b="1" dirty="0">
                          <a:effectLst/>
                          <a:latin typeface="Times New Roman" panose="02020603050405020304" pitchFamily="18" charset="0"/>
                          <a:cs typeface="Times New Roman" panose="02020603050405020304" pitchFamily="18" charset="0"/>
                        </a:rPr>
                        <a:t>SUMMARY</a:t>
                      </a:r>
                    </a:p>
                  </a:txBody>
                  <a:tcPr anchor="b"/>
                </a:tc>
                <a:tc>
                  <a:txBody>
                    <a:bodyPr/>
                    <a:lstStyle/>
                    <a:p>
                      <a:pPr fontAlgn="b"/>
                      <a:r>
                        <a:rPr lang="en-IN" b="1" dirty="0">
                          <a:effectLst/>
                          <a:latin typeface="Times New Roman" panose="02020603050405020304" pitchFamily="18" charset="0"/>
                          <a:cs typeface="Times New Roman" panose="02020603050405020304" pitchFamily="18" charset="0"/>
                        </a:rPr>
                        <a:t>SOURCE</a:t>
                      </a:r>
                    </a:p>
                  </a:txBody>
                  <a:tcPr anchor="b"/>
                </a:tc>
                <a:tc>
                  <a:txBody>
                    <a:bodyPr/>
                    <a:lstStyle/>
                    <a:p>
                      <a:pPr fontAlgn="b"/>
                      <a:r>
                        <a:rPr lang="en-IN" b="1">
                          <a:effectLst/>
                          <a:latin typeface="Times New Roman" panose="02020603050405020304" pitchFamily="18" charset="0"/>
                          <a:cs typeface="Times New Roman" panose="02020603050405020304" pitchFamily="18" charset="0"/>
                        </a:rPr>
                        <a:t>LIMITATIONS</a:t>
                      </a:r>
                    </a:p>
                  </a:txBody>
                  <a:tcPr anchor="b"/>
                </a:tc>
                <a:tc>
                  <a:txBody>
                    <a:bodyPr/>
                    <a:lstStyle/>
                    <a:p>
                      <a:pPr fontAlgn="b"/>
                      <a:r>
                        <a:rPr lang="en-US" b="1" dirty="0">
                          <a:effectLst/>
                          <a:latin typeface="Times New Roman" panose="02020603050405020304" pitchFamily="18" charset="0"/>
                          <a:cs typeface="Times New Roman" panose="02020603050405020304" pitchFamily="18" charset="0"/>
                        </a:rPr>
                        <a:t>O</a:t>
                      </a:r>
                      <a:r>
                        <a:rPr lang="en-IN" b="1" dirty="0">
                          <a:effectLst/>
                          <a:latin typeface="Times New Roman" panose="02020603050405020304" pitchFamily="18" charset="0"/>
                          <a:cs typeface="Times New Roman" panose="02020603050405020304" pitchFamily="18" charset="0"/>
                        </a:rPr>
                        <a:t>UTCOME</a:t>
                      </a:r>
                    </a:p>
                  </a:txBody>
                  <a:tcPr anchor="b"/>
                </a:tc>
                <a:extLst>
                  <a:ext uri="{0D108BD9-81ED-4DB2-BD59-A6C34878D82A}">
                    <a16:rowId xmlns:a16="http://schemas.microsoft.com/office/drawing/2014/main" val="568449573"/>
                  </a:ext>
                </a:extLst>
              </a:tr>
              <a:tr h="4004960">
                <a:tc>
                  <a:txBody>
                    <a:bodyPr/>
                    <a:lstStyle/>
                    <a:p>
                      <a:pPr fontAlgn="base"/>
                      <a:r>
                        <a:rPr lang="en-IN" dirty="0">
                          <a:effectLst/>
                          <a:latin typeface="Times New Roman" panose="02020603050405020304" pitchFamily="18" charset="0"/>
                          <a:cs typeface="Times New Roman" panose="02020603050405020304" pitchFamily="18" charset="0"/>
                        </a:rPr>
                        <a:t>4]</a:t>
                      </a:r>
                    </a:p>
                  </a:txBody>
                  <a:tcPr anchor="ctr"/>
                </a:tc>
                <a:tc>
                  <a:txBody>
                    <a:bodyPr/>
                    <a:lstStyle/>
                    <a:p>
                      <a:pPr fontAlgn="base"/>
                      <a:r>
                        <a:rPr lang="en-IN" b="1">
                          <a:effectLst/>
                          <a:latin typeface="Times New Roman" panose="02020603050405020304" pitchFamily="18" charset="0"/>
                          <a:cs typeface="Times New Roman" panose="02020603050405020304" pitchFamily="18" charset="0"/>
                        </a:rPr>
                        <a:t>A Survey on Financial Fraud Detection Techniques</a:t>
                      </a:r>
                      <a:endParaRPr lang="en-IN">
                        <a:effectLst/>
                        <a:latin typeface="Times New Roman" panose="02020603050405020304" pitchFamily="18" charset="0"/>
                        <a:cs typeface="Times New Roman" panose="02020603050405020304" pitchFamily="18" charset="0"/>
                      </a:endParaRPr>
                    </a:p>
                  </a:txBody>
                  <a:tcPr anchor="ctr"/>
                </a:tc>
                <a:tc>
                  <a:txBody>
                    <a:bodyPr/>
                    <a:lstStyle/>
                    <a:p>
                      <a:pPr fontAlgn="base"/>
                      <a:r>
                        <a:rPr lang="en-US" dirty="0">
                          <a:effectLst/>
                          <a:latin typeface="Times New Roman" panose="02020603050405020304" pitchFamily="18" charset="0"/>
                          <a:cs typeface="Times New Roman" panose="02020603050405020304" pitchFamily="18" charset="0"/>
                        </a:rPr>
                        <a:t>Provides a comprehensive review of existing fraud detection methods, comparing their performance and applicability in different financial contexts.</a:t>
                      </a:r>
                    </a:p>
                  </a:txBody>
                  <a:tcPr anchor="ctr"/>
                </a:tc>
                <a:tc>
                  <a:txBody>
                    <a:bodyPr/>
                    <a:lstStyle/>
                    <a:p>
                      <a:pPr fontAlgn="base"/>
                      <a:r>
                        <a:rPr lang="en-IN">
                          <a:effectLst/>
                          <a:latin typeface="Times New Roman" panose="02020603050405020304" pitchFamily="18" charset="0"/>
                          <a:cs typeface="Times New Roman" panose="02020603050405020304" pitchFamily="18" charset="0"/>
                        </a:rPr>
                        <a:t>Google Scholar</a:t>
                      </a:r>
                    </a:p>
                  </a:txBody>
                  <a:tcPr anchor="ctr"/>
                </a:tc>
                <a:tc>
                  <a:txBody>
                    <a:bodyPr/>
                    <a:lstStyle/>
                    <a:p>
                      <a:pPr fontAlgn="base"/>
                      <a:r>
                        <a:rPr lang="en-US" dirty="0">
                          <a:effectLst/>
                          <a:latin typeface="Times New Roman" panose="02020603050405020304" pitchFamily="18" charset="0"/>
                          <a:cs typeface="Times New Roman" panose="02020603050405020304" pitchFamily="18" charset="0"/>
                        </a:rPr>
                        <a:t>Limited focus on practical implementations; mainly theoretical analysis of existing methods.</a:t>
                      </a:r>
                    </a:p>
                  </a:txBody>
                  <a:tcPr anchor="ctr"/>
                </a:tc>
                <a:tc>
                  <a:txBody>
                    <a:bodyPr/>
                    <a:lstStyle/>
                    <a:p>
                      <a:pPr fontAlgn="base"/>
                      <a:r>
                        <a:rPr lang="en-US" dirty="0" err="1">
                          <a:effectLst/>
                          <a:latin typeface="Times New Roman" panose="02020603050405020304" pitchFamily="18" charset="0"/>
                          <a:cs typeface="Times New Roman" panose="02020603050405020304" pitchFamily="18" charset="0"/>
                        </a:rPr>
                        <a:t>Comprehen</a:t>
                      </a:r>
                      <a:r>
                        <a:rPr lang="en-US" dirty="0">
                          <a:effectLst/>
                          <a:latin typeface="Times New Roman" panose="02020603050405020304" pitchFamily="18" charset="0"/>
                          <a:cs typeface="Times New Roman" panose="02020603050405020304" pitchFamily="18" charset="0"/>
                        </a:rPr>
                        <a:t>--</a:t>
                      </a:r>
                      <a:r>
                        <a:rPr lang="en-US" dirty="0" err="1">
                          <a:effectLst/>
                          <a:latin typeface="Times New Roman" panose="02020603050405020304" pitchFamily="18" charset="0"/>
                          <a:cs typeface="Times New Roman" panose="02020603050405020304" pitchFamily="18" charset="0"/>
                        </a:rPr>
                        <a:t>sive</a:t>
                      </a:r>
                      <a:r>
                        <a:rPr lang="en-US" dirty="0">
                          <a:effectLst/>
                          <a:latin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cs typeface="Times New Roman" panose="02020603050405020304" pitchFamily="18" charset="0"/>
                        </a:rPr>
                        <a:t>understandi</a:t>
                      </a:r>
                      <a:r>
                        <a:rPr lang="en-US" dirty="0">
                          <a:effectLst/>
                          <a:latin typeface="Times New Roman" panose="02020603050405020304" pitchFamily="18" charset="0"/>
                          <a:cs typeface="Times New Roman" panose="02020603050405020304" pitchFamily="18" charset="0"/>
                        </a:rPr>
                        <a:t>-ng of the field.</a:t>
                      </a:r>
                    </a:p>
                  </a:txBody>
                  <a:tcPr anchor="ctr"/>
                </a:tc>
                <a:extLst>
                  <a:ext uri="{0D108BD9-81ED-4DB2-BD59-A6C34878D82A}">
                    <a16:rowId xmlns:a16="http://schemas.microsoft.com/office/drawing/2014/main" val="1914119540"/>
                  </a:ext>
                </a:extLst>
              </a:tr>
            </a:tbl>
          </a:graphicData>
        </a:graphic>
      </p:graphicFrame>
    </p:spTree>
    <p:extLst>
      <p:ext uri="{BB962C8B-B14F-4D97-AF65-F5344CB8AC3E}">
        <p14:creationId xmlns:p14="http://schemas.microsoft.com/office/powerpoint/2010/main" val="319657137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dirty="0">
                <a:ln>
                  <a:noFill/>
                </a:ln>
                <a:solidFill>
                  <a:schemeClr val="tx1"/>
                </a:solidFill>
                <a:effectLst/>
                <a:uLnTx/>
                <a:uFillTx/>
                <a:latin typeface="Book Antiqua" pitchFamily="18" charset="0"/>
                <a:ea typeface="+mn-ea"/>
                <a:cs typeface="+mn-cs"/>
              </a:rPr>
              <a:t>Literature Survey Outcome</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5" name="Title 1"/>
          <p:cNvSpPr txBox="1">
            <a:spLocks/>
          </p:cNvSpPr>
          <p:nvPr/>
        </p:nvSpPr>
        <p:spPr>
          <a:xfrm>
            <a:off x="457200" y="1143000"/>
            <a:ext cx="8382000" cy="4800600"/>
          </a:xfrm>
          <a:prstGeom prst="rect">
            <a:avLst/>
          </a:prstGeom>
        </p:spPr>
        <p:txBody>
          <a:bodyPr vert="horz" lIns="91440" tIns="45720" rIns="91440" bIns="45720" rtlCol="0" anchor="ctr">
            <a:normAutofit/>
          </a:bodyPr>
          <a:lstStyle/>
          <a:p>
            <a:pPr algn="just"/>
            <a:endParaRPr lang="en-US" sz="800" b="1"/>
          </a:p>
          <a:p>
            <a:pPr algn="just"/>
            <a:endParaRPr lang="en-US" sz="800" b="1"/>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p:txBody>
      </p:sp>
      <p:sp>
        <p:nvSpPr>
          <p:cNvPr id="10" name="Footer Placeholder 6"/>
          <p:cNvSpPr txBox="1">
            <a:spLocks/>
          </p:cNvSpPr>
          <p:nvPr/>
        </p:nvSpPr>
        <p:spPr>
          <a:xfrm>
            <a:off x="0" y="649287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chemeClr val="tx1"/>
                </a:solidFill>
                <a:effectLst/>
                <a:uLnTx/>
                <a:uFillTx/>
                <a:latin typeface="+mn-lt"/>
                <a:ea typeface="+mn-ea"/>
                <a:cs typeface="+mn-cs"/>
              </a:rPr>
              <a:t>Dept. of ISE, SIT, </a:t>
            </a:r>
            <a:r>
              <a:rPr kumimoji="0" lang="en-IN" sz="1200" b="0" i="0" u="none" strike="noStrike" kern="1200" cap="none" spc="0" normalizeH="0" baseline="0" noProof="0" dirty="0" err="1">
                <a:ln>
                  <a:noFill/>
                </a:ln>
                <a:solidFill>
                  <a:schemeClr val="tx1"/>
                </a:solidFill>
                <a:effectLst/>
                <a:uLnTx/>
                <a:uFillTx/>
                <a:latin typeface="+mn-lt"/>
                <a:ea typeface="+mn-ea"/>
                <a:cs typeface="+mn-cs"/>
              </a:rPr>
              <a:t>Tumkur</a:t>
            </a:r>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pic>
        <p:nvPicPr>
          <p:cNvPr id="11"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84182"/>
            <a:ext cx="375082" cy="382509"/>
          </a:xfrm>
          <a:prstGeom prst="rect">
            <a:avLst/>
          </a:prstGeom>
          <a:noFill/>
        </p:spPr>
      </p:pic>
      <p:sp>
        <p:nvSpPr>
          <p:cNvPr id="12"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Title 1"/>
          <p:cNvSpPr>
            <a:spLocks noGrp="1"/>
          </p:cNvSpPr>
          <p:nvPr>
            <p:ph type="title"/>
          </p:nvPr>
        </p:nvSpPr>
        <p:spPr>
          <a:xfrm>
            <a:off x="457200" y="457200"/>
            <a:ext cx="82296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LITERATURE SURVEY OUTCOME</a:t>
            </a:r>
          </a:p>
        </p:txBody>
      </p:sp>
      <p:sp>
        <p:nvSpPr>
          <p:cNvPr id="2" name="Rectangle 1">
            <a:extLst>
              <a:ext uri="{FF2B5EF4-FFF2-40B4-BE49-F238E27FC236}">
                <a16:creationId xmlns:a16="http://schemas.microsoft.com/office/drawing/2014/main" id="{0EA2133C-F538-D5D3-15AF-C6CCEBF259A4}"/>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4FF76EE0-E67C-9C37-047A-66D540E9B7FE}"/>
              </a:ext>
            </a:extLst>
          </p:cNvPr>
          <p:cNvSpPr txBox="1"/>
          <p:nvPr/>
        </p:nvSpPr>
        <p:spPr>
          <a:xfrm>
            <a:off x="3256280" y="-1418371"/>
            <a:ext cx="671576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C34C5F59-8C14-3A8D-3F30-0FBE49230938}"/>
              </a:ext>
            </a:extLst>
          </p:cNvPr>
          <p:cNvSpPr>
            <a:spLocks noChangeArrowheads="1"/>
          </p:cNvSpPr>
          <p:nvPr/>
        </p:nvSpPr>
        <p:spPr bwMode="auto">
          <a:xfrm>
            <a:off x="228600" y="1189542"/>
            <a:ext cx="853948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Effectiveness of Machine Learning in Fraud Detection</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ML techniques outperform traditional rule-based systems by learning complex and evolving fraud patterns. Algorithms such as decision trees, neural networks, and ensemble models provide higher accuracy in fraud detection.</a:t>
            </a:r>
          </a:p>
          <a:p>
            <a:pPr marL="342900" marR="0" lvl="0" indent="-342900" algn="just"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Challenges in Fraud Detection:</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imbalanced nature of transaction datasets, where fraudulent cases are significantly fewer, requires specialized techniques such as oversampling,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undersampling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synthetic data generation. Balancing detection accuracy while minimizing false positives is crucial to avoid unnecessary disruptions for legitimate users.</a:t>
            </a:r>
          </a:p>
          <a:p>
            <a:pPr marL="342900" marR="0" lvl="0" indent="-342900" algn="just"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Importance of Feature Engineering:</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 techniques like Principal Component Analysis (PCA) help in reducing dimensionality and improving detection efficiency. Selecting the right features, such as transaction time, amount, and user behavior patterns, enhances model performance.</a:t>
            </a:r>
          </a:p>
          <a:p>
            <a:pPr marL="342900" marR="0" lvl="0" indent="-342900" algn="just" defTabSz="914400" rtl="0" eaLnBrk="0" fontAlgn="base" latinLnBrk="0" hangingPunct="0">
              <a:lnSpc>
                <a:spcPct val="100000"/>
              </a:lnSpc>
              <a:spcBef>
                <a:spcPct val="0"/>
              </a:spcBef>
              <a:spcAft>
                <a:spcPct val="0"/>
              </a:spcAft>
              <a:buClrTx/>
              <a:buSzTx/>
              <a:buFont typeface="+mj-lt"/>
              <a:buAutoNum type="arabicParen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941254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sv-SE" b="1" dirty="0">
                <a:latin typeface="Book Antiqua" pitchFamily="18" charset="0"/>
              </a:rPr>
              <a:t>Dataset Overview</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5" name="Title 1"/>
          <p:cNvSpPr txBox="1">
            <a:spLocks/>
          </p:cNvSpPr>
          <p:nvPr/>
        </p:nvSpPr>
        <p:spPr>
          <a:xfrm>
            <a:off x="457200" y="1143000"/>
            <a:ext cx="8382000" cy="4800600"/>
          </a:xfrm>
          <a:prstGeom prst="rect">
            <a:avLst/>
          </a:prstGeom>
        </p:spPr>
        <p:txBody>
          <a:bodyPr vert="horz" lIns="91440" tIns="45720" rIns="91440" bIns="45720" rtlCol="0" anchor="ctr">
            <a:normAutofit/>
          </a:bodyPr>
          <a:lstStyle/>
          <a:p>
            <a:pPr algn="just"/>
            <a:endParaRPr lang="en-US" sz="800" b="1"/>
          </a:p>
          <a:p>
            <a:pPr algn="just"/>
            <a:endParaRPr lang="en-US" sz="800" b="1"/>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p:txBody>
      </p:sp>
      <p:sp>
        <p:nvSpPr>
          <p:cNvPr id="10" name="Footer Placeholder 6"/>
          <p:cNvSpPr txBox="1">
            <a:spLocks/>
          </p:cNvSpPr>
          <p:nvPr/>
        </p:nvSpPr>
        <p:spPr>
          <a:xfrm>
            <a:off x="0" y="649287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chemeClr val="tx1"/>
                </a:solidFill>
                <a:effectLst/>
                <a:uLnTx/>
                <a:uFillTx/>
                <a:latin typeface="+mn-lt"/>
                <a:ea typeface="+mn-ea"/>
                <a:cs typeface="+mn-cs"/>
              </a:rPr>
              <a:t>Dept. of ISE, SIT, </a:t>
            </a:r>
            <a:r>
              <a:rPr kumimoji="0" lang="en-IN" sz="1200" b="0" i="0" u="none" strike="noStrike" kern="1200" cap="none" spc="0" normalizeH="0" baseline="0" noProof="0" dirty="0" err="1">
                <a:ln>
                  <a:noFill/>
                </a:ln>
                <a:solidFill>
                  <a:schemeClr val="tx1"/>
                </a:solidFill>
                <a:effectLst/>
                <a:uLnTx/>
                <a:uFillTx/>
                <a:latin typeface="+mn-lt"/>
                <a:ea typeface="+mn-ea"/>
                <a:cs typeface="+mn-cs"/>
              </a:rPr>
              <a:t>Tumkur</a:t>
            </a:r>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pic>
        <p:nvPicPr>
          <p:cNvPr id="11"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84182"/>
            <a:ext cx="375082" cy="382509"/>
          </a:xfrm>
          <a:prstGeom prst="rect">
            <a:avLst/>
          </a:prstGeom>
          <a:noFill/>
        </p:spPr>
      </p:pic>
      <p:sp>
        <p:nvSpPr>
          <p:cNvPr id="12"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Title 1"/>
          <p:cNvSpPr>
            <a:spLocks noGrp="1"/>
          </p:cNvSpPr>
          <p:nvPr>
            <p:ph type="title"/>
          </p:nvPr>
        </p:nvSpPr>
        <p:spPr>
          <a:xfrm>
            <a:off x="457200" y="457200"/>
            <a:ext cx="82296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DATASET OVERVIEW</a:t>
            </a:r>
          </a:p>
        </p:txBody>
      </p:sp>
      <p:sp>
        <p:nvSpPr>
          <p:cNvPr id="13" name="TextBox 12">
            <a:extLst>
              <a:ext uri="{FF2B5EF4-FFF2-40B4-BE49-F238E27FC236}">
                <a16:creationId xmlns:a16="http://schemas.microsoft.com/office/drawing/2014/main" id="{3A8ECAE0-BC83-B2FF-9500-267551D087A4}"/>
              </a:ext>
            </a:extLst>
          </p:cNvPr>
          <p:cNvSpPr txBox="1"/>
          <p:nvPr/>
        </p:nvSpPr>
        <p:spPr>
          <a:xfrm>
            <a:off x="457200" y="1580535"/>
            <a:ext cx="8219440" cy="4154984"/>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contains credit card transactions from European cardholders, with the goal of detecting fraud.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has:</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492 frauds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out of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284,807 transactions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(0.172% fraud rate).</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 are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PCA-transformed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except for Time (elapsed time since the first transaction) and Amount (transaction amount).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target variable Class indicates whether a transaction is fraud (1) or not (0).</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Imbalanced dataset,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 we have to balance it to perform the fraud detection operation.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13772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 y="264478"/>
            <a:ext cx="8763000" cy="868362"/>
          </a:xfrm>
        </p:spPr>
        <p:txBody>
          <a:bodyPr>
            <a:noAutofit/>
          </a:bodyPr>
          <a:lstStyle/>
          <a:p>
            <a:r>
              <a:rPr lang="en-IN" sz="3200" b="1" dirty="0">
                <a:solidFill>
                  <a:srgbClr val="002060"/>
                </a:solidFill>
                <a:latin typeface="Times New Roman" panose="02020603050405020304" pitchFamily="18" charset="0"/>
                <a:cs typeface="Times New Roman" panose="02020603050405020304" pitchFamily="18" charset="0"/>
              </a:rPr>
              <a:t>BLOCK DIAGRAM OF PROPOSED WORK</a:t>
            </a:r>
          </a:p>
        </p:txBody>
      </p:sp>
      <p:sp>
        <p:nvSpPr>
          <p:cNvPr id="7"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a:spcBef>
                <a:spcPct val="0"/>
              </a:spcBef>
              <a:defRPr/>
            </a:pPr>
            <a:r>
              <a:rPr lang="sv-SE" b="1" dirty="0">
                <a:solidFill>
                  <a:prstClr val="black"/>
                </a:solidFill>
                <a:latin typeface="Book Antiqua" pitchFamily="18" charset="0"/>
              </a:rPr>
              <a:t>Proposed Work</a:t>
            </a:r>
            <a:endParaRPr lang="en-US" b="1" dirty="0">
              <a:solidFill>
                <a:prstClr val="black"/>
              </a:solidFill>
              <a:latin typeface="Book Antiqua" pitchFamily="18" charset="0"/>
            </a:endParaRPr>
          </a:p>
        </p:txBody>
      </p:sp>
      <p:sp>
        <p:nvSpPr>
          <p:cNvPr id="8" name="Footer Placeholder 6"/>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chemeClr val="tx1"/>
                </a:solidFill>
                <a:effectLst/>
                <a:uLnTx/>
                <a:uFillTx/>
                <a:latin typeface="+mn-lt"/>
                <a:ea typeface="+mn-ea"/>
                <a:cs typeface="+mn-cs"/>
              </a:rPr>
              <a:t>Dept. of ISE, SIT, </a:t>
            </a:r>
            <a:r>
              <a:rPr kumimoji="0" lang="en-IN" sz="1200" b="0" i="0" u="none" strike="noStrike" kern="1200" cap="none" spc="0" normalizeH="0" baseline="0" noProof="0" dirty="0" err="1">
                <a:ln>
                  <a:noFill/>
                </a:ln>
                <a:solidFill>
                  <a:schemeClr val="tx1"/>
                </a:solidFill>
                <a:effectLst/>
                <a:uLnTx/>
                <a:uFillTx/>
                <a:latin typeface="+mn-lt"/>
                <a:ea typeface="+mn-ea"/>
                <a:cs typeface="+mn-cs"/>
              </a:rPr>
              <a:t>Tumkur</a:t>
            </a:r>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pic>
        <p:nvPicPr>
          <p:cNvPr id="9" name="Picture 1" descr="C:\Users\Administrator\Desktop\Comp\Ubi-Cam\Ubi-Cam\ic_launcher-web.png"/>
          <p:cNvPicPr>
            <a:picLocks noChangeAspect="1" noChangeArrowheads="1"/>
          </p:cNvPicPr>
          <p:nvPr/>
        </p:nvPicPr>
        <p:blipFill>
          <a:blip r:embed="rId3" cstate="print"/>
          <a:srcRect/>
          <a:stretch>
            <a:fillRect/>
          </a:stretch>
        </p:blipFill>
        <p:spPr bwMode="auto">
          <a:xfrm>
            <a:off x="10160" y="6505971"/>
            <a:ext cx="375082" cy="382509"/>
          </a:xfrm>
          <a:prstGeom prst="rect">
            <a:avLst/>
          </a:prstGeom>
          <a:noFill/>
        </p:spPr>
      </p:pic>
      <p:sp>
        <p:nvSpPr>
          <p:cNvPr id="10" name="Rectangle 9">
            <a:extLst>
              <a:ext uri="{FF2B5EF4-FFF2-40B4-BE49-F238E27FC236}">
                <a16:creationId xmlns:a16="http://schemas.microsoft.com/office/drawing/2014/main" id="{7F5A9EA0-D6B1-0123-32F2-EEB9F6FF6F8A}"/>
              </a:ext>
            </a:extLst>
          </p:cNvPr>
          <p:cNvSpPr/>
          <p:nvPr/>
        </p:nvSpPr>
        <p:spPr>
          <a:xfrm>
            <a:off x="439140" y="3079713"/>
            <a:ext cx="1748358" cy="1207214"/>
          </a:xfrm>
          <a:prstGeom prst="rect">
            <a:avLst/>
          </a:prstGeom>
          <a:solidFill>
            <a:schemeClr val="tx2">
              <a:lumMod val="40000"/>
              <a:lumOff val="60000"/>
            </a:schemeClr>
          </a:solidFill>
          <a:ln>
            <a:solidFill>
              <a:schemeClr val="tx2">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User Transaction Input</a:t>
            </a:r>
          </a:p>
        </p:txBody>
      </p:sp>
      <p:sp>
        <p:nvSpPr>
          <p:cNvPr id="59" name="TextBox 58">
            <a:extLst>
              <a:ext uri="{FF2B5EF4-FFF2-40B4-BE49-F238E27FC236}">
                <a16:creationId xmlns:a16="http://schemas.microsoft.com/office/drawing/2014/main" id="{797AE7B0-4DD9-B481-E639-4F813CD1B49E}"/>
              </a:ext>
            </a:extLst>
          </p:cNvPr>
          <p:cNvSpPr txBox="1"/>
          <p:nvPr/>
        </p:nvSpPr>
        <p:spPr>
          <a:xfrm>
            <a:off x="413981" y="4946659"/>
            <a:ext cx="2544976" cy="707886"/>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Fig. Block Diagram of</a:t>
            </a:r>
          </a:p>
          <a:p>
            <a:r>
              <a:rPr lang="en-IN" sz="2000" dirty="0">
                <a:latin typeface="Times New Roman" panose="02020603050405020304" pitchFamily="18" charset="0"/>
                <a:cs typeface="Times New Roman" panose="02020603050405020304" pitchFamily="18" charset="0"/>
              </a:rPr>
              <a:t> Proposed Work</a:t>
            </a:r>
          </a:p>
        </p:txBody>
      </p:sp>
      <p:sp>
        <p:nvSpPr>
          <p:cNvPr id="43" name="Rectangle: Rounded Corners 42">
            <a:extLst>
              <a:ext uri="{FF2B5EF4-FFF2-40B4-BE49-F238E27FC236}">
                <a16:creationId xmlns:a16="http://schemas.microsoft.com/office/drawing/2014/main" id="{59E937D9-4EA5-8A70-156C-FB3FEBBB0C9A}"/>
              </a:ext>
            </a:extLst>
          </p:cNvPr>
          <p:cNvSpPr/>
          <p:nvPr/>
        </p:nvSpPr>
        <p:spPr>
          <a:xfrm>
            <a:off x="2593544" y="1102429"/>
            <a:ext cx="1731077" cy="1287142"/>
          </a:xfrm>
          <a:prstGeom prst="roundRect">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Feature Extraction &amp; Selection </a:t>
            </a:r>
            <a:endParaRPr lang="en-IN" dirty="0">
              <a:latin typeface="Times New Roman" panose="02020603050405020304" pitchFamily="18" charset="0"/>
              <a:cs typeface="Times New Roman" panose="02020603050405020304" pitchFamily="18" charset="0"/>
            </a:endParaRPr>
          </a:p>
        </p:txBody>
      </p:sp>
      <p:sp>
        <p:nvSpPr>
          <p:cNvPr id="44" name="Rectangle: Rounded Corners 43">
            <a:extLst>
              <a:ext uri="{FF2B5EF4-FFF2-40B4-BE49-F238E27FC236}">
                <a16:creationId xmlns:a16="http://schemas.microsoft.com/office/drawing/2014/main" id="{1D17CF35-1A4C-003E-CC62-D7C1F63D65EA}"/>
              </a:ext>
            </a:extLst>
          </p:cNvPr>
          <p:cNvSpPr/>
          <p:nvPr/>
        </p:nvSpPr>
        <p:spPr>
          <a:xfrm>
            <a:off x="2620228" y="3090436"/>
            <a:ext cx="1731077" cy="1198965"/>
          </a:xfrm>
          <a:prstGeom prst="roundRect">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Data Preprocessing(Cleaning, Scaling) </a:t>
            </a:r>
          </a:p>
        </p:txBody>
      </p:sp>
      <p:sp>
        <p:nvSpPr>
          <p:cNvPr id="45" name="Rectangle: Rounded Corners 44">
            <a:extLst>
              <a:ext uri="{FF2B5EF4-FFF2-40B4-BE49-F238E27FC236}">
                <a16:creationId xmlns:a16="http://schemas.microsoft.com/office/drawing/2014/main" id="{A5169C3A-EFCA-FFF4-57D7-C38C52D41393}"/>
              </a:ext>
            </a:extLst>
          </p:cNvPr>
          <p:cNvSpPr/>
          <p:nvPr/>
        </p:nvSpPr>
        <p:spPr>
          <a:xfrm>
            <a:off x="5170203" y="1232650"/>
            <a:ext cx="1941816" cy="995680"/>
          </a:xfrm>
          <a:prstGeom prst="roundRect">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ML Model (Training &amp; Prediction)</a:t>
            </a:r>
          </a:p>
        </p:txBody>
      </p:sp>
      <p:sp>
        <p:nvSpPr>
          <p:cNvPr id="46" name="Diamond 45">
            <a:extLst>
              <a:ext uri="{FF2B5EF4-FFF2-40B4-BE49-F238E27FC236}">
                <a16:creationId xmlns:a16="http://schemas.microsoft.com/office/drawing/2014/main" id="{D088DF16-6C35-C106-0FC9-8DA6F7055A8B}"/>
              </a:ext>
            </a:extLst>
          </p:cNvPr>
          <p:cNvSpPr/>
          <p:nvPr/>
        </p:nvSpPr>
        <p:spPr>
          <a:xfrm>
            <a:off x="4593997" y="2755209"/>
            <a:ext cx="2123597" cy="1995721"/>
          </a:xfrm>
          <a:prstGeom prst="diamond">
            <a:avLst/>
          </a:prstGeom>
          <a:solidFill>
            <a:srgbClr val="FFFF00"/>
          </a:solidFill>
          <a:ln>
            <a:solidFill>
              <a:srgbClr val="FFFF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Fraud Classification(Legit/Fraudulent)</a:t>
            </a:r>
          </a:p>
        </p:txBody>
      </p:sp>
      <p:sp>
        <p:nvSpPr>
          <p:cNvPr id="50" name="Rectangle: Rounded Corners 49">
            <a:extLst>
              <a:ext uri="{FF2B5EF4-FFF2-40B4-BE49-F238E27FC236}">
                <a16:creationId xmlns:a16="http://schemas.microsoft.com/office/drawing/2014/main" id="{04628B95-FBEB-2EE3-109F-61DC88070BED}"/>
              </a:ext>
            </a:extLst>
          </p:cNvPr>
          <p:cNvSpPr/>
          <p:nvPr/>
        </p:nvSpPr>
        <p:spPr>
          <a:xfrm>
            <a:off x="7245908" y="3083548"/>
            <a:ext cx="1808477" cy="1284786"/>
          </a:xfrm>
          <a:prstGeom prst="roundRect">
            <a:avLst/>
          </a:prstGeom>
          <a:solidFill>
            <a:srgbClr val="FF0000"/>
          </a:solid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Alert System(Trigger Notification)</a:t>
            </a:r>
          </a:p>
        </p:txBody>
      </p:sp>
      <p:sp>
        <p:nvSpPr>
          <p:cNvPr id="51" name="Flowchart: Data 50">
            <a:extLst>
              <a:ext uri="{FF2B5EF4-FFF2-40B4-BE49-F238E27FC236}">
                <a16:creationId xmlns:a16="http://schemas.microsoft.com/office/drawing/2014/main" id="{55E0BDCE-AB71-74F9-6D46-AF13327EEBA2}"/>
              </a:ext>
            </a:extLst>
          </p:cNvPr>
          <p:cNvSpPr/>
          <p:nvPr/>
        </p:nvSpPr>
        <p:spPr>
          <a:xfrm>
            <a:off x="6536546" y="5007078"/>
            <a:ext cx="2360863" cy="1162736"/>
          </a:xfrm>
          <a:prstGeom prst="flowChartInputOutput">
            <a:avLst/>
          </a:prstGeom>
          <a:solidFill>
            <a:srgbClr val="FF0000"/>
          </a:solid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a:latin typeface="Times New Roman" panose="02020603050405020304" pitchFamily="18" charset="0"/>
                <a:cs typeface="Times New Roman" panose="02020603050405020304" pitchFamily="18" charset="0"/>
              </a:rPr>
              <a:t>Notify User/Bank via SMS/Email</a:t>
            </a:r>
            <a:endParaRPr lang="en-IN" dirty="0">
              <a:latin typeface="Times New Roman" panose="02020603050405020304" pitchFamily="18" charset="0"/>
              <a:cs typeface="Times New Roman" panose="02020603050405020304" pitchFamily="18" charset="0"/>
            </a:endParaRPr>
          </a:p>
        </p:txBody>
      </p:sp>
      <p:sp>
        <p:nvSpPr>
          <p:cNvPr id="52" name="Flowchart: Terminator 51">
            <a:extLst>
              <a:ext uri="{FF2B5EF4-FFF2-40B4-BE49-F238E27FC236}">
                <a16:creationId xmlns:a16="http://schemas.microsoft.com/office/drawing/2014/main" id="{C6CEE4E2-B136-3F69-1979-8A670E5AC0C6}"/>
              </a:ext>
            </a:extLst>
          </p:cNvPr>
          <p:cNvSpPr/>
          <p:nvPr/>
        </p:nvSpPr>
        <p:spPr>
          <a:xfrm>
            <a:off x="3530288" y="5193489"/>
            <a:ext cx="2123597" cy="960815"/>
          </a:xfrm>
          <a:prstGeom prst="flowChartTerminator">
            <a:avLst/>
          </a:prstGeom>
          <a:solidFill>
            <a:srgbClr val="92D050"/>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a:latin typeface="Times New Roman" panose="02020603050405020304" pitchFamily="18" charset="0"/>
                <a:cs typeface="Times New Roman" panose="02020603050405020304" pitchFamily="18" charset="0"/>
              </a:rPr>
              <a:t>Dashboard System  (Monitor Alerts)</a:t>
            </a:r>
            <a:endParaRPr lang="en-IN" dirty="0">
              <a:latin typeface="Times New Roman" panose="02020603050405020304" pitchFamily="18" charset="0"/>
              <a:cs typeface="Times New Roman" panose="02020603050405020304" pitchFamily="18" charset="0"/>
            </a:endParaRPr>
          </a:p>
        </p:txBody>
      </p:sp>
      <p:cxnSp>
        <p:nvCxnSpPr>
          <p:cNvPr id="75" name="Straight Arrow Connector 74">
            <a:extLst>
              <a:ext uri="{FF2B5EF4-FFF2-40B4-BE49-F238E27FC236}">
                <a16:creationId xmlns:a16="http://schemas.microsoft.com/office/drawing/2014/main" id="{7F923116-58B6-AF7B-419C-F6F838968040}"/>
              </a:ext>
            </a:extLst>
          </p:cNvPr>
          <p:cNvCxnSpPr>
            <a:stCxn id="10" idx="3"/>
            <a:endCxn id="44" idx="1"/>
          </p:cNvCxnSpPr>
          <p:nvPr/>
        </p:nvCxnSpPr>
        <p:spPr>
          <a:xfrm>
            <a:off x="2187498" y="3683320"/>
            <a:ext cx="432730" cy="659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6" name="Straight Arrow Connector 75">
            <a:extLst>
              <a:ext uri="{FF2B5EF4-FFF2-40B4-BE49-F238E27FC236}">
                <a16:creationId xmlns:a16="http://schemas.microsoft.com/office/drawing/2014/main" id="{876E9B97-58B6-1506-A4A7-0751DBFBC687}"/>
              </a:ext>
            </a:extLst>
          </p:cNvPr>
          <p:cNvCxnSpPr>
            <a:cxnSpLocks/>
            <a:endCxn id="43" idx="2"/>
          </p:cNvCxnSpPr>
          <p:nvPr/>
        </p:nvCxnSpPr>
        <p:spPr>
          <a:xfrm flipV="1">
            <a:off x="3459082" y="2389571"/>
            <a:ext cx="1" cy="70086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8" name="Straight Arrow Connector 77">
            <a:extLst>
              <a:ext uri="{FF2B5EF4-FFF2-40B4-BE49-F238E27FC236}">
                <a16:creationId xmlns:a16="http://schemas.microsoft.com/office/drawing/2014/main" id="{6BFDBB0E-799B-498B-3ECC-29459F0E7309}"/>
              </a:ext>
            </a:extLst>
          </p:cNvPr>
          <p:cNvCxnSpPr>
            <a:cxnSpLocks/>
            <a:stCxn id="43" idx="3"/>
            <a:endCxn id="45" idx="1"/>
          </p:cNvCxnSpPr>
          <p:nvPr/>
        </p:nvCxnSpPr>
        <p:spPr>
          <a:xfrm flipV="1">
            <a:off x="4324621" y="1730490"/>
            <a:ext cx="845582" cy="1551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1" name="Straight Arrow Connector 80">
            <a:extLst>
              <a:ext uri="{FF2B5EF4-FFF2-40B4-BE49-F238E27FC236}">
                <a16:creationId xmlns:a16="http://schemas.microsoft.com/office/drawing/2014/main" id="{0172B957-4129-6DFD-7E2E-9686A6B3D4EF}"/>
              </a:ext>
            </a:extLst>
          </p:cNvPr>
          <p:cNvCxnSpPr>
            <a:cxnSpLocks/>
            <a:endCxn id="46" idx="0"/>
          </p:cNvCxnSpPr>
          <p:nvPr/>
        </p:nvCxnSpPr>
        <p:spPr>
          <a:xfrm>
            <a:off x="5655796" y="2250351"/>
            <a:ext cx="0" cy="50485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5" name="Straight Arrow Connector 84">
            <a:extLst>
              <a:ext uri="{FF2B5EF4-FFF2-40B4-BE49-F238E27FC236}">
                <a16:creationId xmlns:a16="http://schemas.microsoft.com/office/drawing/2014/main" id="{B0FBB993-92CF-52DA-395D-E509FE6FBD1F}"/>
              </a:ext>
            </a:extLst>
          </p:cNvPr>
          <p:cNvCxnSpPr>
            <a:cxnSpLocks/>
            <a:stCxn id="46" idx="3"/>
            <a:endCxn id="50" idx="1"/>
          </p:cNvCxnSpPr>
          <p:nvPr/>
        </p:nvCxnSpPr>
        <p:spPr>
          <a:xfrm flipV="1">
            <a:off x="6717594" y="3725941"/>
            <a:ext cx="528314" cy="2712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8" name="Straight Arrow Connector 87">
            <a:extLst>
              <a:ext uri="{FF2B5EF4-FFF2-40B4-BE49-F238E27FC236}">
                <a16:creationId xmlns:a16="http://schemas.microsoft.com/office/drawing/2014/main" id="{5E8082A0-803F-71EA-920B-44EE946E6B9C}"/>
              </a:ext>
            </a:extLst>
          </p:cNvPr>
          <p:cNvCxnSpPr>
            <a:cxnSpLocks/>
          </p:cNvCxnSpPr>
          <p:nvPr/>
        </p:nvCxnSpPr>
        <p:spPr>
          <a:xfrm>
            <a:off x="8072878" y="4404891"/>
            <a:ext cx="0" cy="6021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0" name="Straight Arrow Connector 89">
            <a:extLst>
              <a:ext uri="{FF2B5EF4-FFF2-40B4-BE49-F238E27FC236}">
                <a16:creationId xmlns:a16="http://schemas.microsoft.com/office/drawing/2014/main" id="{CF3E4782-68C5-CD93-3CCE-FF28B81EA5C7}"/>
              </a:ext>
            </a:extLst>
          </p:cNvPr>
          <p:cNvCxnSpPr>
            <a:cxnSpLocks/>
            <a:endCxn id="52" idx="0"/>
          </p:cNvCxnSpPr>
          <p:nvPr/>
        </p:nvCxnSpPr>
        <p:spPr>
          <a:xfrm flipH="1">
            <a:off x="4592087" y="4369073"/>
            <a:ext cx="2903725" cy="82441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1" name="Straight Arrow Connector 90">
            <a:extLst>
              <a:ext uri="{FF2B5EF4-FFF2-40B4-BE49-F238E27FC236}">
                <a16:creationId xmlns:a16="http://schemas.microsoft.com/office/drawing/2014/main" id="{F601076F-A2A3-8FA7-ADFA-2AB45C73A16B}"/>
              </a:ext>
            </a:extLst>
          </p:cNvPr>
          <p:cNvCxnSpPr>
            <a:cxnSpLocks/>
            <a:stCxn id="51" idx="2"/>
            <a:endCxn id="52" idx="3"/>
          </p:cNvCxnSpPr>
          <p:nvPr/>
        </p:nvCxnSpPr>
        <p:spPr>
          <a:xfrm flipH="1">
            <a:off x="5653885" y="5588446"/>
            <a:ext cx="1118747" cy="8545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76276263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 y="264478"/>
            <a:ext cx="8763000" cy="868362"/>
          </a:xfrm>
        </p:spPr>
        <p:txBody>
          <a:bodyPr>
            <a:noAutofit/>
          </a:bodyPr>
          <a:lstStyle/>
          <a:p>
            <a:r>
              <a:rPr lang="en-IN" sz="3200" b="1" dirty="0">
                <a:solidFill>
                  <a:srgbClr val="002060"/>
                </a:solidFill>
                <a:latin typeface="Times New Roman" panose="02020603050405020304" pitchFamily="18" charset="0"/>
                <a:cs typeface="Times New Roman" panose="02020603050405020304" pitchFamily="18" charset="0"/>
              </a:rPr>
              <a:t>SYSTEM ARCHITECTURE</a:t>
            </a:r>
          </a:p>
        </p:txBody>
      </p:sp>
      <p:sp>
        <p:nvSpPr>
          <p:cNvPr id="7"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a:spcBef>
                <a:spcPct val="0"/>
              </a:spcBef>
              <a:defRPr/>
            </a:pPr>
            <a:r>
              <a:rPr lang="sv-SE" b="1" dirty="0">
                <a:solidFill>
                  <a:prstClr val="black"/>
                </a:solidFill>
                <a:latin typeface="Book Antiqua" pitchFamily="18" charset="0"/>
              </a:rPr>
              <a:t>System Architecture</a:t>
            </a:r>
            <a:endParaRPr lang="en-US" b="1" dirty="0">
              <a:solidFill>
                <a:prstClr val="black"/>
              </a:solidFill>
              <a:latin typeface="Book Antiqua" pitchFamily="18" charset="0"/>
            </a:endParaRPr>
          </a:p>
        </p:txBody>
      </p:sp>
      <p:sp>
        <p:nvSpPr>
          <p:cNvPr id="8" name="Footer Placeholder 6"/>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9" name="Picture 1" descr="C:\Users\Administrator\Desktop\Comp\Ubi-Cam\Ubi-Cam\ic_launcher-web.png"/>
          <p:cNvPicPr>
            <a:picLocks noChangeAspect="1" noChangeArrowheads="1"/>
          </p:cNvPicPr>
          <p:nvPr/>
        </p:nvPicPr>
        <p:blipFill>
          <a:blip r:embed="rId3" cstate="print"/>
          <a:srcRect/>
          <a:stretch>
            <a:fillRect/>
          </a:stretch>
        </p:blipFill>
        <p:spPr bwMode="auto">
          <a:xfrm>
            <a:off x="10160" y="6505971"/>
            <a:ext cx="375082" cy="382509"/>
          </a:xfrm>
          <a:prstGeom prst="rect">
            <a:avLst/>
          </a:prstGeom>
          <a:noFill/>
        </p:spPr>
      </p:pic>
      <p:sp>
        <p:nvSpPr>
          <p:cNvPr id="3" name="Rectangle: Rounded Corners 2">
            <a:extLst>
              <a:ext uri="{FF2B5EF4-FFF2-40B4-BE49-F238E27FC236}">
                <a16:creationId xmlns:a16="http://schemas.microsoft.com/office/drawing/2014/main" id="{9535D60E-A750-8DB8-F948-395552E897EC}"/>
              </a:ext>
            </a:extLst>
          </p:cNvPr>
          <p:cNvSpPr/>
          <p:nvPr/>
        </p:nvSpPr>
        <p:spPr>
          <a:xfrm>
            <a:off x="580424" y="1211135"/>
            <a:ext cx="2142201" cy="1194967"/>
          </a:xfrm>
          <a:prstGeom prst="round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User Interface (Web/Mobile App)</a:t>
            </a:r>
          </a:p>
        </p:txBody>
      </p:sp>
      <p:sp>
        <p:nvSpPr>
          <p:cNvPr id="4" name="Rectangle 3">
            <a:extLst>
              <a:ext uri="{FF2B5EF4-FFF2-40B4-BE49-F238E27FC236}">
                <a16:creationId xmlns:a16="http://schemas.microsoft.com/office/drawing/2014/main" id="{FEA55040-B16F-AA11-B28B-A5DE48C9E836}"/>
              </a:ext>
            </a:extLst>
          </p:cNvPr>
          <p:cNvSpPr/>
          <p:nvPr/>
        </p:nvSpPr>
        <p:spPr>
          <a:xfrm>
            <a:off x="4006912" y="1267707"/>
            <a:ext cx="1654139" cy="1052732"/>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API Gateway / Middleware</a:t>
            </a:r>
          </a:p>
        </p:txBody>
      </p:sp>
      <p:sp>
        <p:nvSpPr>
          <p:cNvPr id="5" name="Rectangle 4">
            <a:extLst>
              <a:ext uri="{FF2B5EF4-FFF2-40B4-BE49-F238E27FC236}">
                <a16:creationId xmlns:a16="http://schemas.microsoft.com/office/drawing/2014/main" id="{5EAC0DA3-1127-E5B8-9C79-CBE5CE6DD542}"/>
              </a:ext>
            </a:extLst>
          </p:cNvPr>
          <p:cNvSpPr/>
          <p:nvPr/>
        </p:nvSpPr>
        <p:spPr>
          <a:xfrm>
            <a:off x="6945339" y="1207605"/>
            <a:ext cx="1654139" cy="1194968"/>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Fraud Detection Engine</a:t>
            </a:r>
          </a:p>
        </p:txBody>
      </p:sp>
      <p:sp>
        <p:nvSpPr>
          <p:cNvPr id="6" name="Rectangle: Rounded Corners 5">
            <a:extLst>
              <a:ext uri="{FF2B5EF4-FFF2-40B4-BE49-F238E27FC236}">
                <a16:creationId xmlns:a16="http://schemas.microsoft.com/office/drawing/2014/main" id="{AB08BE56-56A3-FC54-3A52-2CE6D916A0FF}"/>
              </a:ext>
            </a:extLst>
          </p:cNvPr>
          <p:cNvSpPr/>
          <p:nvPr/>
        </p:nvSpPr>
        <p:spPr>
          <a:xfrm>
            <a:off x="7087937" y="3134230"/>
            <a:ext cx="1374136" cy="928217"/>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Alerts System</a:t>
            </a:r>
          </a:p>
        </p:txBody>
      </p:sp>
      <p:sp>
        <p:nvSpPr>
          <p:cNvPr id="10" name="Flowchart: Data 9">
            <a:extLst>
              <a:ext uri="{FF2B5EF4-FFF2-40B4-BE49-F238E27FC236}">
                <a16:creationId xmlns:a16="http://schemas.microsoft.com/office/drawing/2014/main" id="{870D5DBE-7D82-8AA1-EE08-79CD080FC782}"/>
              </a:ext>
            </a:extLst>
          </p:cNvPr>
          <p:cNvSpPr/>
          <p:nvPr/>
        </p:nvSpPr>
        <p:spPr>
          <a:xfrm>
            <a:off x="3770291" y="2981672"/>
            <a:ext cx="2079867" cy="1052733"/>
          </a:xfrm>
          <a:prstGeom prst="flowChartInputOutpu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Dashboard View</a:t>
            </a:r>
          </a:p>
        </p:txBody>
      </p:sp>
      <p:sp>
        <p:nvSpPr>
          <p:cNvPr id="11" name="Flowchart: Data 10">
            <a:extLst>
              <a:ext uri="{FF2B5EF4-FFF2-40B4-BE49-F238E27FC236}">
                <a16:creationId xmlns:a16="http://schemas.microsoft.com/office/drawing/2014/main" id="{9C60804D-AF70-9D14-03AA-5E7CB1F88FD3}"/>
              </a:ext>
            </a:extLst>
          </p:cNvPr>
          <p:cNvSpPr/>
          <p:nvPr/>
        </p:nvSpPr>
        <p:spPr>
          <a:xfrm>
            <a:off x="6444515" y="4884853"/>
            <a:ext cx="2234572" cy="1288065"/>
          </a:xfrm>
          <a:prstGeom prst="flowChartInputOutpu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Notification Service (SMS/Email)</a:t>
            </a:r>
          </a:p>
        </p:txBody>
      </p:sp>
      <p:sp>
        <p:nvSpPr>
          <p:cNvPr id="12" name="Cylinder 11">
            <a:extLst>
              <a:ext uri="{FF2B5EF4-FFF2-40B4-BE49-F238E27FC236}">
                <a16:creationId xmlns:a16="http://schemas.microsoft.com/office/drawing/2014/main" id="{D3AF6523-5805-C04F-B095-B1F6452D7C7C}"/>
              </a:ext>
            </a:extLst>
          </p:cNvPr>
          <p:cNvSpPr/>
          <p:nvPr/>
        </p:nvSpPr>
        <p:spPr>
          <a:xfrm>
            <a:off x="3960744" y="4602822"/>
            <a:ext cx="1592380" cy="1683621"/>
          </a:xfrm>
          <a:prstGeom prst="can">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Data Layer (DB, Preprocessing)</a:t>
            </a:r>
          </a:p>
        </p:txBody>
      </p:sp>
      <p:sp>
        <p:nvSpPr>
          <p:cNvPr id="13" name="Hexagon 12">
            <a:extLst>
              <a:ext uri="{FF2B5EF4-FFF2-40B4-BE49-F238E27FC236}">
                <a16:creationId xmlns:a16="http://schemas.microsoft.com/office/drawing/2014/main" id="{695284DA-8F38-1A66-6DF5-444765FA39DD}"/>
              </a:ext>
            </a:extLst>
          </p:cNvPr>
          <p:cNvSpPr/>
          <p:nvPr/>
        </p:nvSpPr>
        <p:spPr>
          <a:xfrm>
            <a:off x="580424" y="2687598"/>
            <a:ext cx="1952089" cy="1654139"/>
          </a:xfrm>
          <a:prstGeom prst="hexagon">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Feedback System (Retraining)</a:t>
            </a:r>
          </a:p>
        </p:txBody>
      </p:sp>
      <p:sp>
        <p:nvSpPr>
          <p:cNvPr id="14" name="Cloud 13">
            <a:extLst>
              <a:ext uri="{FF2B5EF4-FFF2-40B4-BE49-F238E27FC236}">
                <a16:creationId xmlns:a16="http://schemas.microsoft.com/office/drawing/2014/main" id="{70E88CE3-65B6-DC8B-B5A6-B6FFC6513B0A}"/>
              </a:ext>
            </a:extLst>
          </p:cNvPr>
          <p:cNvSpPr/>
          <p:nvPr/>
        </p:nvSpPr>
        <p:spPr>
          <a:xfrm>
            <a:off x="580463" y="4723176"/>
            <a:ext cx="2332233" cy="1654139"/>
          </a:xfrm>
          <a:prstGeom prst="cloud">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Deployment Layer (Cloud)</a:t>
            </a:r>
          </a:p>
        </p:txBody>
      </p:sp>
      <p:cxnSp>
        <p:nvCxnSpPr>
          <p:cNvPr id="16" name="Straight Arrow Connector 15">
            <a:extLst>
              <a:ext uri="{FF2B5EF4-FFF2-40B4-BE49-F238E27FC236}">
                <a16:creationId xmlns:a16="http://schemas.microsoft.com/office/drawing/2014/main" id="{7B8B3DC3-7D27-594E-4C44-F7F44C57B4D2}"/>
              </a:ext>
            </a:extLst>
          </p:cNvPr>
          <p:cNvCxnSpPr>
            <a:stCxn id="3" idx="3"/>
            <a:endCxn id="4" idx="1"/>
          </p:cNvCxnSpPr>
          <p:nvPr/>
        </p:nvCxnSpPr>
        <p:spPr>
          <a:xfrm flipV="1">
            <a:off x="2722625" y="1794073"/>
            <a:ext cx="1284287" cy="1454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21EFB7CE-69ED-5217-9807-5A2A8339B36A}"/>
              </a:ext>
            </a:extLst>
          </p:cNvPr>
          <p:cNvCxnSpPr>
            <a:cxnSpLocks/>
            <a:stCxn id="5" idx="2"/>
          </p:cNvCxnSpPr>
          <p:nvPr/>
        </p:nvCxnSpPr>
        <p:spPr>
          <a:xfrm flipH="1">
            <a:off x="4926427" y="2402573"/>
            <a:ext cx="2845982" cy="5704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52EDE18D-9C45-4D5A-2903-4CD0C8AE80CC}"/>
              </a:ext>
            </a:extLst>
          </p:cNvPr>
          <p:cNvCxnSpPr>
            <a:cxnSpLocks/>
            <a:stCxn id="5" idx="2"/>
            <a:endCxn id="6" idx="0"/>
          </p:cNvCxnSpPr>
          <p:nvPr/>
        </p:nvCxnSpPr>
        <p:spPr>
          <a:xfrm>
            <a:off x="7772409" y="2402573"/>
            <a:ext cx="2596" cy="7316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6B67AB8A-7FB4-9958-E680-F150FD0E30B3}"/>
              </a:ext>
            </a:extLst>
          </p:cNvPr>
          <p:cNvCxnSpPr/>
          <p:nvPr/>
        </p:nvCxnSpPr>
        <p:spPr>
          <a:xfrm flipV="1">
            <a:off x="5661051" y="1808618"/>
            <a:ext cx="1284287" cy="1454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DCD4C8B8-978F-553E-5372-CAF9808747E8}"/>
              </a:ext>
            </a:extLst>
          </p:cNvPr>
          <p:cNvCxnSpPr>
            <a:cxnSpLocks/>
            <a:stCxn id="10" idx="2"/>
            <a:endCxn id="13" idx="0"/>
          </p:cNvCxnSpPr>
          <p:nvPr/>
        </p:nvCxnSpPr>
        <p:spPr>
          <a:xfrm flipH="1">
            <a:off x="2532513" y="3508039"/>
            <a:ext cx="1445765" cy="662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B87E2197-C944-63E5-7EA5-766DE6BA7316}"/>
              </a:ext>
            </a:extLst>
          </p:cNvPr>
          <p:cNvCxnSpPr>
            <a:cxnSpLocks/>
            <a:endCxn id="12" idx="2"/>
          </p:cNvCxnSpPr>
          <p:nvPr/>
        </p:nvCxnSpPr>
        <p:spPr>
          <a:xfrm>
            <a:off x="2911724" y="5444632"/>
            <a:ext cx="1049020"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a:extLst>
              <a:ext uri="{FF2B5EF4-FFF2-40B4-BE49-F238E27FC236}">
                <a16:creationId xmlns:a16="http://schemas.microsoft.com/office/drawing/2014/main" id="{543B94B6-8AE5-AED4-ECA8-17FF7F0B0B17}"/>
              </a:ext>
            </a:extLst>
          </p:cNvPr>
          <p:cNvCxnSpPr>
            <a:cxnSpLocks/>
            <a:stCxn id="6" idx="2"/>
            <a:endCxn id="11" idx="0"/>
          </p:cNvCxnSpPr>
          <p:nvPr/>
        </p:nvCxnSpPr>
        <p:spPr>
          <a:xfrm>
            <a:off x="7775005" y="4062447"/>
            <a:ext cx="10253" cy="82240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a:extLst>
              <a:ext uri="{FF2B5EF4-FFF2-40B4-BE49-F238E27FC236}">
                <a16:creationId xmlns:a16="http://schemas.microsoft.com/office/drawing/2014/main" id="{3F3D0713-91BF-75C1-D563-A6E5E0211547}"/>
              </a:ext>
            </a:extLst>
          </p:cNvPr>
          <p:cNvCxnSpPr>
            <a:cxnSpLocks/>
          </p:cNvCxnSpPr>
          <p:nvPr/>
        </p:nvCxnSpPr>
        <p:spPr>
          <a:xfrm>
            <a:off x="1591952" y="4341737"/>
            <a:ext cx="0" cy="4273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7718019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83F28-5045-46A1-87F4-BA7378F69E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A9F8B-D15C-6681-73EC-FCDF7AA4BB4C}"/>
              </a:ext>
            </a:extLst>
          </p:cNvPr>
          <p:cNvSpPr>
            <a:spLocks noGrp="1"/>
          </p:cNvSpPr>
          <p:nvPr>
            <p:ph type="title"/>
          </p:nvPr>
        </p:nvSpPr>
        <p:spPr>
          <a:xfrm>
            <a:off x="10160" y="264478"/>
            <a:ext cx="8763000" cy="868362"/>
          </a:xfrm>
        </p:spPr>
        <p:txBody>
          <a:bodyPr>
            <a:noAutofit/>
          </a:bodyPr>
          <a:lstStyle/>
          <a:p>
            <a:r>
              <a:rPr lang="en-IN" sz="3200" b="1" dirty="0">
                <a:solidFill>
                  <a:srgbClr val="002060"/>
                </a:solidFill>
                <a:latin typeface="Times New Roman" panose="02020603050405020304" pitchFamily="18" charset="0"/>
                <a:cs typeface="Times New Roman" panose="02020603050405020304" pitchFamily="18" charset="0"/>
              </a:rPr>
              <a:t>SYSTEM WORKFLOW</a:t>
            </a:r>
          </a:p>
        </p:txBody>
      </p:sp>
      <p:sp>
        <p:nvSpPr>
          <p:cNvPr id="7" name="Title 1">
            <a:extLst>
              <a:ext uri="{FF2B5EF4-FFF2-40B4-BE49-F238E27FC236}">
                <a16:creationId xmlns:a16="http://schemas.microsoft.com/office/drawing/2014/main" id="{AF1DD21F-54CC-4A01-A5C1-D0FE656A8ECB}"/>
              </a:ext>
            </a:extLst>
          </p:cNvPr>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a:spcBef>
                <a:spcPct val="0"/>
              </a:spcBef>
              <a:defRPr/>
            </a:pPr>
            <a:r>
              <a:rPr lang="sv-SE" b="1" dirty="0">
                <a:solidFill>
                  <a:prstClr val="black"/>
                </a:solidFill>
                <a:latin typeface="Book Antiqua" pitchFamily="18" charset="0"/>
              </a:rPr>
              <a:t>System Workflow</a:t>
            </a:r>
            <a:endParaRPr lang="en-US" b="1" dirty="0">
              <a:solidFill>
                <a:prstClr val="black"/>
              </a:solidFill>
              <a:latin typeface="Book Antiqua" pitchFamily="18" charset="0"/>
            </a:endParaRPr>
          </a:p>
        </p:txBody>
      </p:sp>
      <p:sp>
        <p:nvSpPr>
          <p:cNvPr id="8" name="Footer Placeholder 6">
            <a:extLst>
              <a:ext uri="{FF2B5EF4-FFF2-40B4-BE49-F238E27FC236}">
                <a16:creationId xmlns:a16="http://schemas.microsoft.com/office/drawing/2014/main" id="{687F9976-F118-344E-A222-F9962AB6F516}"/>
              </a:ext>
            </a:extLst>
          </p:cNvPr>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9" name="Picture 1" descr="C:\Users\Administrator\Desktop\Comp\Ubi-Cam\Ubi-Cam\ic_launcher-web.png">
            <a:extLst>
              <a:ext uri="{FF2B5EF4-FFF2-40B4-BE49-F238E27FC236}">
                <a16:creationId xmlns:a16="http://schemas.microsoft.com/office/drawing/2014/main" id="{4FE12B3F-10CE-EA57-5078-20783B8EA393}"/>
              </a:ext>
            </a:extLst>
          </p:cNvPr>
          <p:cNvPicPr>
            <a:picLocks noChangeAspect="1" noChangeArrowheads="1"/>
          </p:cNvPicPr>
          <p:nvPr/>
        </p:nvPicPr>
        <p:blipFill>
          <a:blip r:embed="rId3" cstate="print"/>
          <a:srcRect/>
          <a:stretch>
            <a:fillRect/>
          </a:stretch>
        </p:blipFill>
        <p:spPr bwMode="auto">
          <a:xfrm>
            <a:off x="10160" y="6505971"/>
            <a:ext cx="375082" cy="382509"/>
          </a:xfrm>
          <a:prstGeom prst="rect">
            <a:avLst/>
          </a:prstGeom>
          <a:noFill/>
        </p:spPr>
      </p:pic>
      <p:sp>
        <p:nvSpPr>
          <p:cNvPr id="29" name="Rectangle 28">
            <a:extLst>
              <a:ext uri="{FF2B5EF4-FFF2-40B4-BE49-F238E27FC236}">
                <a16:creationId xmlns:a16="http://schemas.microsoft.com/office/drawing/2014/main" id="{FB18DE07-6FCB-027D-DB1B-19A1BDF6F187}"/>
              </a:ext>
            </a:extLst>
          </p:cNvPr>
          <p:cNvSpPr/>
          <p:nvPr/>
        </p:nvSpPr>
        <p:spPr>
          <a:xfrm>
            <a:off x="599440" y="1201024"/>
            <a:ext cx="2194560" cy="1552450"/>
          </a:xfrm>
          <a:prstGeom prst="rect">
            <a:avLst/>
          </a:prstGeom>
          <a:solidFill>
            <a:schemeClr val="tx2">
              <a:lumMod val="60000"/>
              <a:lumOff val="40000"/>
            </a:schemeClr>
          </a:solidFill>
          <a:ln>
            <a:solidFill>
              <a:schemeClr val="tx2">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383A42"/>
                </a:solidFill>
                <a:latin typeface="Times New Roman" panose="02020603050405020304" pitchFamily="18" charset="0"/>
                <a:cs typeface="Times New Roman" panose="02020603050405020304" pitchFamily="18" charset="0"/>
              </a:rPr>
              <a:t>Data Layer(Data Sources, Data Storage, Preprocessing)</a:t>
            </a:r>
            <a:endParaRPr lang="en-IN" dirty="0">
              <a:latin typeface="Times New Roman" panose="02020603050405020304" pitchFamily="18" charset="0"/>
              <a:cs typeface="Times New Roman" panose="02020603050405020304" pitchFamily="18" charset="0"/>
            </a:endParaRPr>
          </a:p>
        </p:txBody>
      </p:sp>
      <p:sp>
        <p:nvSpPr>
          <p:cNvPr id="31" name="Rectangle 30">
            <a:extLst>
              <a:ext uri="{FF2B5EF4-FFF2-40B4-BE49-F238E27FC236}">
                <a16:creationId xmlns:a16="http://schemas.microsoft.com/office/drawing/2014/main" id="{E40B4E2A-6ACC-FF07-299E-40A2D13DB3CA}"/>
              </a:ext>
            </a:extLst>
          </p:cNvPr>
          <p:cNvSpPr/>
          <p:nvPr/>
        </p:nvSpPr>
        <p:spPr>
          <a:xfrm>
            <a:off x="6313441" y="1158296"/>
            <a:ext cx="2280919" cy="1712950"/>
          </a:xfrm>
          <a:prstGeom prst="rect">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383A42"/>
                </a:solidFill>
                <a:latin typeface="Times New Roman" panose="02020603050405020304" pitchFamily="18" charset="0"/>
                <a:cs typeface="Times New Roman" panose="02020603050405020304" pitchFamily="18" charset="0"/>
              </a:rPr>
              <a:t>Detection Layer(Fraud Detection System, Real Time Processing, Alert Mechanism)</a:t>
            </a:r>
            <a:endParaRPr lang="en-IN" dirty="0">
              <a:solidFill>
                <a:srgbClr val="383A42"/>
              </a:solidFill>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4467DAC7-7D84-C2CE-AD3F-272CCE8EEF43}"/>
              </a:ext>
            </a:extLst>
          </p:cNvPr>
          <p:cNvSpPr/>
          <p:nvPr/>
        </p:nvSpPr>
        <p:spPr>
          <a:xfrm>
            <a:off x="3395981" y="1158232"/>
            <a:ext cx="2280917" cy="1798532"/>
          </a:xfrm>
          <a:prstGeom prst="round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383A42"/>
                </a:solidFill>
                <a:latin typeface="Times New Roman" panose="02020603050405020304" pitchFamily="18" charset="0"/>
                <a:cs typeface="Times New Roman" panose="02020603050405020304" pitchFamily="18" charset="0"/>
              </a:rPr>
              <a:t>Model Development Layer(</a:t>
            </a:r>
            <a:r>
              <a:rPr lang="en-IN">
                <a:solidFill>
                  <a:srgbClr val="383A42"/>
                </a:solidFill>
                <a:latin typeface="Times New Roman" panose="02020603050405020304" pitchFamily="18" charset="0"/>
                <a:cs typeface="Times New Roman" panose="02020603050405020304" pitchFamily="18" charset="0"/>
              </a:rPr>
              <a:t>Feature Engineering, ML Models, Model Ealuatiion)</a:t>
            </a:r>
            <a:endParaRPr lang="en-IN" dirty="0">
              <a:solidFill>
                <a:srgbClr val="383A42"/>
              </a:solidFill>
              <a:latin typeface="Times New Roman" panose="02020603050405020304" pitchFamily="18" charset="0"/>
              <a:cs typeface="Times New Roman" panose="02020603050405020304" pitchFamily="18" charset="0"/>
            </a:endParaRPr>
          </a:p>
        </p:txBody>
      </p:sp>
      <p:sp>
        <p:nvSpPr>
          <p:cNvPr id="4" name="Flowchart: Data 3">
            <a:extLst>
              <a:ext uri="{FF2B5EF4-FFF2-40B4-BE49-F238E27FC236}">
                <a16:creationId xmlns:a16="http://schemas.microsoft.com/office/drawing/2014/main" id="{2CA1AB46-3C08-6FB9-7136-FDCE1DD038E6}"/>
              </a:ext>
            </a:extLst>
          </p:cNvPr>
          <p:cNvSpPr/>
          <p:nvPr/>
        </p:nvSpPr>
        <p:spPr>
          <a:xfrm>
            <a:off x="6246688" y="3834403"/>
            <a:ext cx="2414426" cy="1712929"/>
          </a:xfrm>
          <a:prstGeom prst="flowChartInputOutpu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383A42"/>
                </a:solidFill>
                <a:latin typeface="Times New Roman" panose="02020603050405020304" pitchFamily="18" charset="0"/>
                <a:cs typeface="Times New Roman" panose="02020603050405020304" pitchFamily="18" charset="0"/>
              </a:rPr>
              <a:t>Integration Layer(API Services, Real Time Dashboard)</a:t>
            </a:r>
          </a:p>
          <a:p>
            <a:pPr algn="ctr"/>
            <a:endParaRPr lang="en-IN" dirty="0"/>
          </a:p>
        </p:txBody>
      </p:sp>
      <p:sp>
        <p:nvSpPr>
          <p:cNvPr id="5" name="Hexagon 4">
            <a:extLst>
              <a:ext uri="{FF2B5EF4-FFF2-40B4-BE49-F238E27FC236}">
                <a16:creationId xmlns:a16="http://schemas.microsoft.com/office/drawing/2014/main" id="{1ECB7255-203E-43DA-27C7-428DDC685FDF}"/>
              </a:ext>
            </a:extLst>
          </p:cNvPr>
          <p:cNvSpPr/>
          <p:nvPr/>
        </p:nvSpPr>
        <p:spPr>
          <a:xfrm>
            <a:off x="3345467" y="3699286"/>
            <a:ext cx="2414425" cy="1953295"/>
          </a:xfrm>
          <a:prstGeom prst="hexagon">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383A42"/>
                </a:solidFill>
                <a:latin typeface="Times New Roman" panose="02020603050405020304" pitchFamily="18" charset="0"/>
                <a:cs typeface="Times New Roman" panose="02020603050405020304" pitchFamily="18" charset="0"/>
              </a:rPr>
              <a:t>Feedback and Refinement Layer(User Feedback, Model Updates)</a:t>
            </a:r>
            <a:endParaRPr lang="en-IN" dirty="0">
              <a:solidFill>
                <a:srgbClr val="383A42"/>
              </a:solidFill>
              <a:latin typeface="Times New Roman" panose="02020603050405020304" pitchFamily="18" charset="0"/>
              <a:cs typeface="Times New Roman" panose="02020603050405020304" pitchFamily="18" charset="0"/>
            </a:endParaRPr>
          </a:p>
        </p:txBody>
      </p:sp>
      <p:sp>
        <p:nvSpPr>
          <p:cNvPr id="10" name="Cloud 9">
            <a:extLst>
              <a:ext uri="{FF2B5EF4-FFF2-40B4-BE49-F238E27FC236}">
                <a16:creationId xmlns:a16="http://schemas.microsoft.com/office/drawing/2014/main" id="{4094757C-F7BF-9967-27F6-3B7CEF820E64}"/>
              </a:ext>
            </a:extLst>
          </p:cNvPr>
          <p:cNvSpPr/>
          <p:nvPr/>
        </p:nvSpPr>
        <p:spPr>
          <a:xfrm>
            <a:off x="482886" y="3630209"/>
            <a:ext cx="2075380" cy="2065106"/>
          </a:xfrm>
          <a:prstGeom prst="cloud">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383A42"/>
                </a:solidFill>
                <a:latin typeface="Times New Roman" panose="02020603050405020304" pitchFamily="18" charset="0"/>
                <a:cs typeface="Times New Roman" panose="02020603050405020304" pitchFamily="18" charset="0"/>
              </a:rPr>
              <a:t>Deployment Layer(Infrastructure, Containerization)</a:t>
            </a:r>
          </a:p>
        </p:txBody>
      </p:sp>
      <p:cxnSp>
        <p:nvCxnSpPr>
          <p:cNvPr id="12" name="Straight Arrow Connector 11">
            <a:extLst>
              <a:ext uri="{FF2B5EF4-FFF2-40B4-BE49-F238E27FC236}">
                <a16:creationId xmlns:a16="http://schemas.microsoft.com/office/drawing/2014/main" id="{9CF8FF41-A97A-7FCE-D232-BAEE95F9E71A}"/>
              </a:ext>
            </a:extLst>
          </p:cNvPr>
          <p:cNvCxnSpPr>
            <a:stCxn id="29" idx="3"/>
          </p:cNvCxnSpPr>
          <p:nvPr/>
        </p:nvCxnSpPr>
        <p:spPr>
          <a:xfrm>
            <a:off x="2794000" y="1977249"/>
            <a:ext cx="6786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F4E6A3E8-F270-2CA0-9905-B769232C9497}"/>
              </a:ext>
            </a:extLst>
          </p:cNvPr>
          <p:cNvCxnSpPr>
            <a:cxnSpLocks/>
            <a:stCxn id="31" idx="2"/>
            <a:endCxn id="4" idx="1"/>
          </p:cNvCxnSpPr>
          <p:nvPr/>
        </p:nvCxnSpPr>
        <p:spPr>
          <a:xfrm>
            <a:off x="7453901" y="2871246"/>
            <a:ext cx="0" cy="9631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262EFA5D-D09F-B4A7-6F7D-5D4328A59A99}"/>
              </a:ext>
            </a:extLst>
          </p:cNvPr>
          <p:cNvCxnSpPr>
            <a:cxnSpLocks/>
            <a:endCxn id="31" idx="1"/>
          </p:cNvCxnSpPr>
          <p:nvPr/>
        </p:nvCxnSpPr>
        <p:spPr>
          <a:xfrm flipV="1">
            <a:off x="5711460" y="2014771"/>
            <a:ext cx="601981" cy="118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A329946C-505D-1F84-C820-AAC4DEAECCFD}"/>
              </a:ext>
            </a:extLst>
          </p:cNvPr>
          <p:cNvCxnSpPr>
            <a:cxnSpLocks/>
            <a:endCxn id="10" idx="0"/>
          </p:cNvCxnSpPr>
          <p:nvPr/>
        </p:nvCxnSpPr>
        <p:spPr>
          <a:xfrm flipH="1" flipV="1">
            <a:off x="2556537" y="4662762"/>
            <a:ext cx="772689" cy="131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B258D4E3-A150-3623-9345-294483D429DD}"/>
              </a:ext>
            </a:extLst>
          </p:cNvPr>
          <p:cNvCxnSpPr>
            <a:cxnSpLocks/>
            <a:stCxn id="4" idx="2"/>
          </p:cNvCxnSpPr>
          <p:nvPr/>
        </p:nvCxnSpPr>
        <p:spPr>
          <a:xfrm flipH="1" flipV="1">
            <a:off x="5776133" y="4689692"/>
            <a:ext cx="711998" cy="11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8337025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sv-SE" b="1" dirty="0">
                <a:latin typeface="Book Antiqua" pitchFamily="18" charset="0"/>
              </a:rPr>
              <a:t>Comparison Table</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5" name="Title 1"/>
          <p:cNvSpPr txBox="1">
            <a:spLocks/>
          </p:cNvSpPr>
          <p:nvPr/>
        </p:nvSpPr>
        <p:spPr>
          <a:xfrm>
            <a:off x="457200" y="1143000"/>
            <a:ext cx="8382000" cy="4800600"/>
          </a:xfrm>
          <a:prstGeom prst="rect">
            <a:avLst/>
          </a:prstGeom>
        </p:spPr>
        <p:txBody>
          <a:bodyPr vert="horz" lIns="91440" tIns="45720" rIns="91440" bIns="45720" rtlCol="0" anchor="ctr">
            <a:normAutofit/>
          </a:bodyPr>
          <a:lstStyle/>
          <a:p>
            <a:pPr algn="just"/>
            <a:endParaRPr lang="en-US" sz="800" b="1"/>
          </a:p>
          <a:p>
            <a:pPr algn="just"/>
            <a:endParaRPr lang="en-US" sz="800" b="1"/>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p:txBody>
      </p:sp>
      <p:sp>
        <p:nvSpPr>
          <p:cNvPr id="10" name="Footer Placeholder 6"/>
          <p:cNvSpPr txBox="1">
            <a:spLocks/>
          </p:cNvSpPr>
          <p:nvPr/>
        </p:nvSpPr>
        <p:spPr>
          <a:xfrm>
            <a:off x="0" y="649287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chemeClr val="tx1"/>
                </a:solidFill>
                <a:effectLst/>
                <a:uLnTx/>
                <a:uFillTx/>
                <a:latin typeface="+mn-lt"/>
                <a:ea typeface="+mn-ea"/>
                <a:cs typeface="+mn-cs"/>
              </a:rPr>
              <a:t>Dept. of ISE, SIT, </a:t>
            </a:r>
            <a:r>
              <a:rPr kumimoji="0" lang="en-IN" sz="1200" b="0" i="0" u="none" strike="noStrike" kern="1200" cap="none" spc="0" normalizeH="0" baseline="0" noProof="0" dirty="0" err="1">
                <a:ln>
                  <a:noFill/>
                </a:ln>
                <a:solidFill>
                  <a:schemeClr val="tx1"/>
                </a:solidFill>
                <a:effectLst/>
                <a:uLnTx/>
                <a:uFillTx/>
                <a:latin typeface="+mn-lt"/>
                <a:ea typeface="+mn-ea"/>
                <a:cs typeface="+mn-cs"/>
              </a:rPr>
              <a:t>Tumkur</a:t>
            </a:r>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pic>
        <p:nvPicPr>
          <p:cNvPr id="11"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84182"/>
            <a:ext cx="375082" cy="382509"/>
          </a:xfrm>
          <a:prstGeom prst="rect">
            <a:avLst/>
          </a:prstGeom>
          <a:noFill/>
        </p:spPr>
      </p:pic>
      <p:sp>
        <p:nvSpPr>
          <p:cNvPr id="12"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Title 1"/>
          <p:cNvSpPr>
            <a:spLocks noGrp="1"/>
          </p:cNvSpPr>
          <p:nvPr>
            <p:ph type="title"/>
          </p:nvPr>
        </p:nvSpPr>
        <p:spPr>
          <a:xfrm>
            <a:off x="457200" y="457200"/>
            <a:ext cx="82296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COMPARISON TABLE</a:t>
            </a:r>
          </a:p>
        </p:txBody>
      </p:sp>
      <p:graphicFrame>
        <p:nvGraphicFramePr>
          <p:cNvPr id="3" name="Table 5">
            <a:extLst>
              <a:ext uri="{FF2B5EF4-FFF2-40B4-BE49-F238E27FC236}">
                <a16:creationId xmlns:a16="http://schemas.microsoft.com/office/drawing/2014/main" id="{CE957270-F71C-B325-E2B7-2DE836E63A57}"/>
              </a:ext>
            </a:extLst>
          </p:cNvPr>
          <p:cNvGraphicFramePr>
            <a:graphicFrameLocks noGrp="1"/>
          </p:cNvGraphicFramePr>
          <p:nvPr>
            <p:extLst>
              <p:ext uri="{D42A27DB-BD31-4B8C-83A1-F6EECF244321}">
                <p14:modId xmlns:p14="http://schemas.microsoft.com/office/powerpoint/2010/main" val="992609776"/>
              </p:ext>
            </p:extLst>
          </p:nvPr>
        </p:nvGraphicFramePr>
        <p:xfrm>
          <a:off x="558800" y="1134308"/>
          <a:ext cx="8128002" cy="5212080"/>
        </p:xfrm>
        <a:graphic>
          <a:graphicData uri="http://schemas.openxmlformats.org/drawingml/2006/table">
            <a:tbl>
              <a:tblPr firstRow="1" bandRow="1">
                <a:tableStyleId>{93296810-A885-4BE3-A3E7-6D5BEEA58F35}</a:tableStyleId>
              </a:tblPr>
              <a:tblGrid>
                <a:gridCol w="1066800">
                  <a:extLst>
                    <a:ext uri="{9D8B030D-6E8A-4147-A177-3AD203B41FA5}">
                      <a16:colId xmlns:a16="http://schemas.microsoft.com/office/drawing/2014/main" val="1098599399"/>
                    </a:ext>
                  </a:extLst>
                </a:gridCol>
                <a:gridCol w="772160">
                  <a:extLst>
                    <a:ext uri="{9D8B030D-6E8A-4147-A177-3AD203B41FA5}">
                      <a16:colId xmlns:a16="http://schemas.microsoft.com/office/drawing/2014/main" val="1482940532"/>
                    </a:ext>
                  </a:extLst>
                </a:gridCol>
                <a:gridCol w="1422400">
                  <a:extLst>
                    <a:ext uri="{9D8B030D-6E8A-4147-A177-3AD203B41FA5}">
                      <a16:colId xmlns:a16="http://schemas.microsoft.com/office/drawing/2014/main" val="3815545130"/>
                    </a:ext>
                  </a:extLst>
                </a:gridCol>
                <a:gridCol w="1737360">
                  <a:extLst>
                    <a:ext uri="{9D8B030D-6E8A-4147-A177-3AD203B41FA5}">
                      <a16:colId xmlns:a16="http://schemas.microsoft.com/office/drawing/2014/main" val="2749966635"/>
                    </a:ext>
                  </a:extLst>
                </a:gridCol>
                <a:gridCol w="2032000">
                  <a:extLst>
                    <a:ext uri="{9D8B030D-6E8A-4147-A177-3AD203B41FA5}">
                      <a16:colId xmlns:a16="http://schemas.microsoft.com/office/drawing/2014/main" val="3797374642"/>
                    </a:ext>
                  </a:extLst>
                </a:gridCol>
                <a:gridCol w="1097282">
                  <a:extLst>
                    <a:ext uri="{9D8B030D-6E8A-4147-A177-3AD203B41FA5}">
                      <a16:colId xmlns:a16="http://schemas.microsoft.com/office/drawing/2014/main" val="1155905127"/>
                    </a:ext>
                  </a:extLst>
                </a:gridCol>
              </a:tblGrid>
              <a:tr h="909309">
                <a:tc>
                  <a:txBody>
                    <a:bodyPr/>
                    <a:lstStyle/>
                    <a:p>
                      <a:r>
                        <a:rPr lang="en-IN" dirty="0">
                          <a:latin typeface="Times New Roman" panose="02020603050405020304" pitchFamily="18" charset="0"/>
                          <a:cs typeface="Times New Roman" panose="02020603050405020304" pitchFamily="18" charset="0"/>
                        </a:rPr>
                        <a:t>Algorithm</a:t>
                      </a:r>
                    </a:p>
                  </a:txBody>
                  <a:tcPr/>
                </a:tc>
                <a:tc>
                  <a:txBody>
                    <a:bodyPr/>
                    <a:lstStyle/>
                    <a:p>
                      <a:r>
                        <a:rPr lang="en-IN" b="1" dirty="0">
                          <a:latin typeface="Times New Roman" panose="02020603050405020304" pitchFamily="18" charset="0"/>
                          <a:cs typeface="Times New Roman" panose="02020603050405020304" pitchFamily="18" charset="0"/>
                        </a:rPr>
                        <a:t>Type</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b="1" dirty="0">
                          <a:latin typeface="Times New Roman" panose="02020603050405020304" pitchFamily="18" charset="0"/>
                          <a:cs typeface="Times New Roman" panose="02020603050405020304" pitchFamily="18" charset="0"/>
                        </a:rPr>
                        <a:t>Key Features</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b="1" dirty="0">
                          <a:latin typeface="Times New Roman" panose="02020603050405020304" pitchFamily="18" charset="0"/>
                          <a:cs typeface="Times New Roman" panose="02020603050405020304" pitchFamily="18" charset="0"/>
                        </a:rPr>
                        <a:t>Advantages</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b="1" dirty="0">
                          <a:latin typeface="Times New Roman" panose="02020603050405020304" pitchFamily="18" charset="0"/>
                          <a:cs typeface="Times New Roman" panose="02020603050405020304" pitchFamily="18" charset="0"/>
                        </a:rPr>
                        <a:t>Disadvantages</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b="1" dirty="0">
                          <a:latin typeface="Times New Roman" panose="02020603050405020304" pitchFamily="18" charset="0"/>
                          <a:cs typeface="Times New Roman" panose="02020603050405020304" pitchFamily="18" charset="0"/>
                        </a:rPr>
                        <a:t>Logistic Regression</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22376911"/>
                  </a:ext>
                </a:extLst>
              </a:tr>
              <a:tr h="0">
                <a:tc>
                  <a:txBody>
                    <a:bodyPr/>
                    <a:lstStyle/>
                    <a:p>
                      <a:r>
                        <a:rPr lang="en-IN" b="1" dirty="0">
                          <a:latin typeface="Times New Roman" panose="02020603050405020304" pitchFamily="18" charset="0"/>
                          <a:cs typeface="Times New Roman" panose="02020603050405020304" pitchFamily="18" charset="0"/>
                        </a:rPr>
                        <a:t>[1] Logistic Regression</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Linear Model</a:t>
                      </a:r>
                    </a:p>
                  </a:txBody>
                  <a:tcPr anchor="ctr"/>
                </a:tc>
                <a:tc>
                  <a:txBody>
                    <a:bodyPr/>
                    <a:lstStyle/>
                    <a:p>
                      <a:r>
                        <a:rPr lang="en-IN" dirty="0">
                          <a:latin typeface="Times New Roman" panose="02020603050405020304" pitchFamily="18" charset="0"/>
                          <a:cs typeface="Times New Roman" panose="02020603050405020304" pitchFamily="18" charset="0"/>
                        </a:rPr>
                        <a:t>Binary classification, interpretable coefficients</a:t>
                      </a:r>
                    </a:p>
                  </a:txBody>
                  <a:tcPr anchor="ctr"/>
                </a:tc>
                <a:tc>
                  <a:txBody>
                    <a:bodyPr/>
                    <a:lstStyle/>
                    <a:p>
                      <a:r>
                        <a:rPr lang="en-US" dirty="0">
                          <a:latin typeface="Times New Roman" panose="02020603050405020304" pitchFamily="18" charset="0"/>
                          <a:cs typeface="Times New Roman" panose="02020603050405020304" pitchFamily="18" charset="0"/>
                        </a:rPr>
                        <a:t>Simple, interpretable, efficient for small datasets</a:t>
                      </a:r>
                    </a:p>
                  </a:txBody>
                  <a:tcPr anchor="ctr"/>
                </a:tc>
                <a:tc>
                  <a:txBody>
                    <a:bodyPr/>
                    <a:lstStyle/>
                    <a:p>
                      <a:r>
                        <a:rPr lang="en-US" dirty="0">
                          <a:latin typeface="Times New Roman" panose="02020603050405020304" pitchFamily="18" charset="0"/>
                          <a:cs typeface="Times New Roman" panose="02020603050405020304" pitchFamily="18" charset="0"/>
                        </a:rPr>
                        <a:t>Assumes linearity, struggles with complex, high-dimensional data; lower test </a:t>
                      </a:r>
                      <a:r>
                        <a:rPr lang="en-US" dirty="0" err="1">
                          <a:latin typeface="Times New Roman" panose="02020603050405020304" pitchFamily="18" charset="0"/>
                          <a:cs typeface="Times New Roman" panose="02020603050405020304" pitchFamily="18" charset="0"/>
                        </a:rPr>
                        <a:t>aaccuracy</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dirty="0">
                          <a:latin typeface="Times New Roman" panose="02020603050405020304" pitchFamily="18" charset="0"/>
                          <a:cs typeface="Times New Roman" panose="02020603050405020304" pitchFamily="18" charset="0"/>
                        </a:rPr>
                        <a:t>Accuracy: </a:t>
                      </a:r>
                      <a:r>
                        <a:rPr lang="en-US" b="1" dirty="0">
                          <a:latin typeface="Times New Roman" panose="02020603050405020304" pitchFamily="18" charset="0"/>
                          <a:cs typeface="Times New Roman" panose="02020603050405020304" pitchFamily="18" charset="0"/>
                        </a:rPr>
                        <a:t>97.05% (Train)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92.21% (Test)</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12578517"/>
                  </a:ext>
                </a:extLst>
              </a:tr>
              <a:tr h="1019708">
                <a:tc>
                  <a:txBody>
                    <a:bodyPr/>
                    <a:lstStyle/>
                    <a:p>
                      <a:r>
                        <a:rPr lang="en-IN" b="1" dirty="0">
                          <a:latin typeface="Times New Roman" panose="02020603050405020304" pitchFamily="18" charset="0"/>
                          <a:cs typeface="Times New Roman" panose="02020603050405020304" pitchFamily="18" charset="0"/>
                        </a:rPr>
                        <a:t>[2] Random Forest</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Ensemble, Decision Trees</a:t>
                      </a:r>
                    </a:p>
                  </a:txBody>
                  <a:tcPr anchor="ctr"/>
                </a:tc>
                <a:tc>
                  <a:txBody>
                    <a:bodyPr/>
                    <a:lstStyle/>
                    <a:p>
                      <a:r>
                        <a:rPr lang="en-IN" dirty="0">
                          <a:latin typeface="Times New Roman" panose="02020603050405020304" pitchFamily="18" charset="0"/>
                          <a:cs typeface="Times New Roman" panose="02020603050405020304" pitchFamily="18" charset="0"/>
                        </a:rPr>
                        <a:t>Uses multiple decision trees, random sampling, handles feature importance</a:t>
                      </a:r>
                    </a:p>
                  </a:txBody>
                  <a:tcPr anchor="ctr"/>
                </a:tc>
                <a:tc>
                  <a:txBody>
                    <a:bodyPr/>
                    <a:lstStyle/>
                    <a:p>
                      <a:r>
                        <a:rPr lang="en-US" dirty="0">
                          <a:latin typeface="Times New Roman" panose="02020603050405020304" pitchFamily="18" charset="0"/>
                          <a:cs typeface="Times New Roman" panose="02020603050405020304" pitchFamily="18" charset="0"/>
                        </a:rPr>
                        <a:t>Robust to overfitting, handles missing data well</a:t>
                      </a:r>
                    </a:p>
                  </a:txBody>
                  <a:tcPr anchor="ctr"/>
                </a:tc>
                <a:tc>
                  <a:txBody>
                    <a:bodyPr/>
                    <a:lstStyle/>
                    <a:p>
                      <a:r>
                        <a:rPr lang="en-US" dirty="0">
                          <a:latin typeface="Times New Roman" panose="02020603050405020304" pitchFamily="18" charset="0"/>
                          <a:cs typeface="Times New Roman" panose="02020603050405020304" pitchFamily="18" charset="0"/>
                        </a:rPr>
                        <a:t>Computationally expensive; </a:t>
                      </a:r>
                      <a:r>
                        <a:rPr lang="en-US" b="1" dirty="0">
                          <a:latin typeface="Times New Roman" panose="02020603050405020304" pitchFamily="18" charset="0"/>
                          <a:cs typeface="Times New Roman" panose="02020603050405020304" pitchFamily="18" charset="0"/>
                        </a:rPr>
                        <a:t>similar test accuracy to Logistic Regression</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dirty="0">
                          <a:latin typeface="Times New Roman" panose="02020603050405020304" pitchFamily="18" charset="0"/>
                          <a:cs typeface="Times New Roman" panose="02020603050405020304" pitchFamily="18" charset="0"/>
                        </a:rPr>
                        <a:t>Accuracy: </a:t>
                      </a:r>
                      <a:r>
                        <a:rPr lang="en-US" b="1" dirty="0">
                          <a:latin typeface="Times New Roman" panose="02020603050405020304" pitchFamily="18" charset="0"/>
                          <a:cs typeface="Times New Roman" panose="02020603050405020304" pitchFamily="18" charset="0"/>
                        </a:rPr>
                        <a:t>100% (Train)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92.21% (Test)</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2428818"/>
                  </a:ext>
                </a:extLst>
              </a:tr>
            </a:tbl>
          </a:graphicData>
        </a:graphic>
      </p:graphicFrame>
    </p:spTree>
    <p:extLst>
      <p:ext uri="{BB962C8B-B14F-4D97-AF65-F5344CB8AC3E}">
        <p14:creationId xmlns:p14="http://schemas.microsoft.com/office/powerpoint/2010/main" val="20273212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sv-SE" b="1" dirty="0">
                <a:latin typeface="Book Antiqua" pitchFamily="18" charset="0"/>
              </a:rPr>
              <a:t>Comparison Table</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5" name="Title 1"/>
          <p:cNvSpPr txBox="1">
            <a:spLocks/>
          </p:cNvSpPr>
          <p:nvPr/>
        </p:nvSpPr>
        <p:spPr>
          <a:xfrm>
            <a:off x="457200" y="1143000"/>
            <a:ext cx="8382000" cy="4800600"/>
          </a:xfrm>
          <a:prstGeom prst="rect">
            <a:avLst/>
          </a:prstGeom>
        </p:spPr>
        <p:txBody>
          <a:bodyPr vert="horz" lIns="91440" tIns="45720" rIns="91440" bIns="45720" rtlCol="0" anchor="ctr">
            <a:normAutofit/>
          </a:bodyPr>
          <a:lstStyle/>
          <a:p>
            <a:pPr algn="just"/>
            <a:endParaRPr lang="en-US" sz="800" b="1"/>
          </a:p>
          <a:p>
            <a:pPr algn="just"/>
            <a:endParaRPr lang="en-US" sz="800" b="1"/>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p:txBody>
      </p:sp>
      <p:sp>
        <p:nvSpPr>
          <p:cNvPr id="10" name="Footer Placeholder 6"/>
          <p:cNvSpPr txBox="1">
            <a:spLocks/>
          </p:cNvSpPr>
          <p:nvPr/>
        </p:nvSpPr>
        <p:spPr>
          <a:xfrm>
            <a:off x="0" y="649287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chemeClr val="tx1"/>
                </a:solidFill>
                <a:effectLst/>
                <a:uLnTx/>
                <a:uFillTx/>
                <a:latin typeface="+mn-lt"/>
                <a:ea typeface="+mn-ea"/>
                <a:cs typeface="+mn-cs"/>
              </a:rPr>
              <a:t>Dept. of ISE, SIT, </a:t>
            </a:r>
            <a:r>
              <a:rPr kumimoji="0" lang="en-IN" sz="1200" b="0" i="0" u="none" strike="noStrike" kern="1200" cap="none" spc="0" normalizeH="0" baseline="0" noProof="0" dirty="0" err="1">
                <a:ln>
                  <a:noFill/>
                </a:ln>
                <a:solidFill>
                  <a:schemeClr val="tx1"/>
                </a:solidFill>
                <a:effectLst/>
                <a:uLnTx/>
                <a:uFillTx/>
                <a:latin typeface="+mn-lt"/>
                <a:ea typeface="+mn-ea"/>
                <a:cs typeface="+mn-cs"/>
              </a:rPr>
              <a:t>Tumkur</a:t>
            </a:r>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pic>
        <p:nvPicPr>
          <p:cNvPr id="11"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84182"/>
            <a:ext cx="375082" cy="382509"/>
          </a:xfrm>
          <a:prstGeom prst="rect">
            <a:avLst/>
          </a:prstGeom>
          <a:noFill/>
        </p:spPr>
      </p:pic>
      <p:sp>
        <p:nvSpPr>
          <p:cNvPr id="12"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Title 1"/>
          <p:cNvSpPr>
            <a:spLocks noGrp="1"/>
          </p:cNvSpPr>
          <p:nvPr>
            <p:ph type="title"/>
          </p:nvPr>
        </p:nvSpPr>
        <p:spPr>
          <a:xfrm>
            <a:off x="457200" y="457200"/>
            <a:ext cx="82296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COMPARISON TABLE</a:t>
            </a:r>
          </a:p>
        </p:txBody>
      </p:sp>
      <p:graphicFrame>
        <p:nvGraphicFramePr>
          <p:cNvPr id="3" name="Table 5">
            <a:extLst>
              <a:ext uri="{FF2B5EF4-FFF2-40B4-BE49-F238E27FC236}">
                <a16:creationId xmlns:a16="http://schemas.microsoft.com/office/drawing/2014/main" id="{CE957270-F71C-B325-E2B7-2DE836E63A57}"/>
              </a:ext>
            </a:extLst>
          </p:cNvPr>
          <p:cNvGraphicFramePr>
            <a:graphicFrameLocks noGrp="1"/>
          </p:cNvGraphicFramePr>
          <p:nvPr>
            <p:extLst>
              <p:ext uri="{D42A27DB-BD31-4B8C-83A1-F6EECF244321}">
                <p14:modId xmlns:p14="http://schemas.microsoft.com/office/powerpoint/2010/main" val="2766967208"/>
              </p:ext>
            </p:extLst>
          </p:nvPr>
        </p:nvGraphicFramePr>
        <p:xfrm>
          <a:off x="558800" y="1134308"/>
          <a:ext cx="8128002" cy="4900733"/>
        </p:xfrm>
        <a:graphic>
          <a:graphicData uri="http://schemas.openxmlformats.org/drawingml/2006/table">
            <a:tbl>
              <a:tblPr firstRow="1" bandRow="1">
                <a:tableStyleId>{93296810-A885-4BE3-A3E7-6D5BEEA58F35}</a:tableStyleId>
              </a:tblPr>
              <a:tblGrid>
                <a:gridCol w="1066800">
                  <a:extLst>
                    <a:ext uri="{9D8B030D-6E8A-4147-A177-3AD203B41FA5}">
                      <a16:colId xmlns:a16="http://schemas.microsoft.com/office/drawing/2014/main" val="1098599399"/>
                    </a:ext>
                  </a:extLst>
                </a:gridCol>
                <a:gridCol w="772160">
                  <a:extLst>
                    <a:ext uri="{9D8B030D-6E8A-4147-A177-3AD203B41FA5}">
                      <a16:colId xmlns:a16="http://schemas.microsoft.com/office/drawing/2014/main" val="1482940532"/>
                    </a:ext>
                  </a:extLst>
                </a:gridCol>
                <a:gridCol w="1605280">
                  <a:extLst>
                    <a:ext uri="{9D8B030D-6E8A-4147-A177-3AD203B41FA5}">
                      <a16:colId xmlns:a16="http://schemas.microsoft.com/office/drawing/2014/main" val="3815545130"/>
                    </a:ext>
                  </a:extLst>
                </a:gridCol>
                <a:gridCol w="1554480">
                  <a:extLst>
                    <a:ext uri="{9D8B030D-6E8A-4147-A177-3AD203B41FA5}">
                      <a16:colId xmlns:a16="http://schemas.microsoft.com/office/drawing/2014/main" val="2749966635"/>
                    </a:ext>
                  </a:extLst>
                </a:gridCol>
                <a:gridCol w="2032000">
                  <a:extLst>
                    <a:ext uri="{9D8B030D-6E8A-4147-A177-3AD203B41FA5}">
                      <a16:colId xmlns:a16="http://schemas.microsoft.com/office/drawing/2014/main" val="3797374642"/>
                    </a:ext>
                  </a:extLst>
                </a:gridCol>
                <a:gridCol w="1097282">
                  <a:extLst>
                    <a:ext uri="{9D8B030D-6E8A-4147-A177-3AD203B41FA5}">
                      <a16:colId xmlns:a16="http://schemas.microsoft.com/office/drawing/2014/main" val="1155905127"/>
                    </a:ext>
                  </a:extLst>
                </a:gridCol>
              </a:tblGrid>
              <a:tr h="960928">
                <a:tc>
                  <a:txBody>
                    <a:bodyPr/>
                    <a:lstStyle/>
                    <a:p>
                      <a:r>
                        <a:rPr lang="en-IN" dirty="0">
                          <a:latin typeface="Times New Roman" panose="02020603050405020304" pitchFamily="18" charset="0"/>
                          <a:cs typeface="Times New Roman" panose="02020603050405020304" pitchFamily="18" charset="0"/>
                        </a:rPr>
                        <a:t>Algorithm</a:t>
                      </a:r>
                    </a:p>
                  </a:txBody>
                  <a:tcPr/>
                </a:tc>
                <a:tc>
                  <a:txBody>
                    <a:bodyPr/>
                    <a:lstStyle/>
                    <a:p>
                      <a:r>
                        <a:rPr lang="en-IN" b="1" dirty="0">
                          <a:latin typeface="Times New Roman" panose="02020603050405020304" pitchFamily="18" charset="0"/>
                          <a:cs typeface="Times New Roman" panose="02020603050405020304" pitchFamily="18" charset="0"/>
                        </a:rPr>
                        <a:t>Type</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b="1" dirty="0">
                          <a:latin typeface="Times New Roman" panose="02020603050405020304" pitchFamily="18" charset="0"/>
                          <a:cs typeface="Times New Roman" panose="02020603050405020304" pitchFamily="18" charset="0"/>
                        </a:rPr>
                        <a:t>Key Features</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b="1" dirty="0">
                          <a:latin typeface="Times New Roman" panose="02020603050405020304" pitchFamily="18" charset="0"/>
                          <a:cs typeface="Times New Roman" panose="02020603050405020304" pitchFamily="18" charset="0"/>
                        </a:rPr>
                        <a:t>Advantages</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b="1" dirty="0">
                          <a:latin typeface="Times New Roman" panose="02020603050405020304" pitchFamily="18" charset="0"/>
                          <a:cs typeface="Times New Roman" panose="02020603050405020304" pitchFamily="18" charset="0"/>
                        </a:rPr>
                        <a:t>Disadvantages</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b="1" dirty="0">
                          <a:latin typeface="Times New Roman" panose="02020603050405020304" pitchFamily="18" charset="0"/>
                          <a:cs typeface="Times New Roman" panose="02020603050405020304" pitchFamily="18" charset="0"/>
                        </a:rPr>
                        <a:t>Logistic Regression</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22376911"/>
                  </a:ext>
                </a:extLst>
              </a:tr>
              <a:tr h="2402320">
                <a:tc>
                  <a:txBody>
                    <a:bodyPr/>
                    <a:lstStyle/>
                    <a:p>
                      <a:r>
                        <a:rPr lang="en-IN" b="1" dirty="0">
                          <a:latin typeface="Times New Roman" panose="02020603050405020304" pitchFamily="18" charset="0"/>
                          <a:cs typeface="Times New Roman" panose="02020603050405020304" pitchFamily="18" charset="0"/>
                        </a:rPr>
                        <a:t>[3]</a:t>
                      </a:r>
                    </a:p>
                    <a:p>
                      <a:r>
                        <a:rPr lang="en-IN" b="1"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t>
                      </a:r>
                      <a:r>
                        <a:rPr lang="en-IN" b="1" i="0" dirty="0">
                          <a:latin typeface="Times New Roman" panose="02020603050405020304" pitchFamily="18" charset="0"/>
                          <a:cs typeface="Times New Roman" panose="02020603050405020304" pitchFamily="18" charset="0"/>
                        </a:rPr>
                        <a:t>(Preferred)</a:t>
                      </a:r>
                    </a:p>
                  </a:txBody>
                  <a:tcPr anchor="ctr"/>
                </a:tc>
                <a:tc>
                  <a:txBody>
                    <a:bodyPr/>
                    <a:lstStyle/>
                    <a:p>
                      <a:r>
                        <a:rPr lang="en-IN" dirty="0">
                          <a:latin typeface="Times New Roman" panose="02020603050405020304" pitchFamily="18" charset="0"/>
                          <a:cs typeface="Times New Roman" panose="02020603050405020304" pitchFamily="18" charset="0"/>
                        </a:rPr>
                        <a:t>Boosting, Ensemble</a:t>
                      </a:r>
                    </a:p>
                  </a:txBody>
                  <a:tcPr anchor="ctr"/>
                </a:tc>
                <a:tc>
                  <a:txBody>
                    <a:bodyPr/>
                    <a:lstStyle/>
                    <a:p>
                      <a:r>
                        <a:rPr lang="en-US" dirty="0">
                          <a:latin typeface="Times New Roman" panose="02020603050405020304" pitchFamily="18" charset="0"/>
                          <a:cs typeface="Times New Roman" panose="02020603050405020304" pitchFamily="18" charset="0"/>
                        </a:rPr>
                        <a:t>Gradient boosting framework, handles imbalanced datasets with </a:t>
                      </a:r>
                      <a:r>
                        <a:rPr lang="en-US" dirty="0" err="1">
                          <a:latin typeface="Times New Roman" panose="02020603050405020304" pitchFamily="18" charset="0"/>
                          <a:cs typeface="Times New Roman" panose="02020603050405020304" pitchFamily="18" charset="0"/>
                        </a:rPr>
                        <a:t>scale_pos_weight</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dirty="0">
                          <a:latin typeface="Times New Roman" panose="02020603050405020304" pitchFamily="18" charset="0"/>
                          <a:cs typeface="Times New Roman" panose="02020603050405020304" pitchFamily="18" charset="0"/>
                        </a:rPr>
                        <a:t>High accuracy, robust to non-linear patterns, best test performance</a:t>
                      </a:r>
                    </a:p>
                  </a:txBody>
                  <a:tcPr anchor="ctr"/>
                </a:tc>
                <a:tc>
                  <a:txBody>
                    <a:bodyPr/>
                    <a:lstStyle/>
                    <a:p>
                      <a:r>
                        <a:rPr lang="en-US" dirty="0">
                          <a:latin typeface="Times New Roman" panose="02020603050405020304" pitchFamily="18" charset="0"/>
                          <a:cs typeface="Times New Roman" panose="02020603050405020304" pitchFamily="18" charset="0"/>
                        </a:rPr>
                        <a:t>Computationally intensive but </a:t>
                      </a:r>
                      <a:r>
                        <a:rPr lang="en-US" b="1" dirty="0">
                          <a:latin typeface="Times New Roman" panose="02020603050405020304" pitchFamily="18" charset="0"/>
                          <a:cs typeface="Times New Roman" panose="02020603050405020304" pitchFamily="18" charset="0"/>
                        </a:rPr>
                        <a:t>achieves the best test accuracy</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dirty="0">
                          <a:latin typeface="Times New Roman" panose="02020603050405020304" pitchFamily="18" charset="0"/>
                          <a:cs typeface="Times New Roman" panose="02020603050405020304" pitchFamily="18" charset="0"/>
                        </a:rPr>
                        <a:t>Accuracy: </a:t>
                      </a:r>
                      <a:r>
                        <a:rPr lang="en-US" b="1" dirty="0">
                          <a:latin typeface="Times New Roman" panose="02020603050405020304" pitchFamily="18" charset="0"/>
                          <a:cs typeface="Times New Roman" panose="02020603050405020304" pitchFamily="18" charset="0"/>
                        </a:rPr>
                        <a:t>100% (Train)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93.51% (Test)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(Best)</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12578517"/>
                  </a:ext>
                </a:extLst>
              </a:tr>
              <a:tr h="1537485">
                <a:tc>
                  <a:txBody>
                    <a:bodyPr/>
                    <a:lstStyle/>
                    <a:p>
                      <a:r>
                        <a:rPr lang="en-IN" b="1" dirty="0">
                          <a:latin typeface="Times New Roman" panose="02020603050405020304" pitchFamily="18" charset="0"/>
                          <a:cs typeface="Times New Roman" panose="02020603050405020304" pitchFamily="18" charset="0"/>
                        </a:rPr>
                        <a:t>[4] Decision Tree</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Decision Trees</a:t>
                      </a:r>
                    </a:p>
                  </a:txBody>
                  <a:tcPr anchor="ctr"/>
                </a:tc>
                <a:tc>
                  <a:txBody>
                    <a:bodyPr/>
                    <a:lstStyle/>
                    <a:p>
                      <a:r>
                        <a:rPr lang="en-US" dirty="0">
                          <a:latin typeface="Times New Roman" panose="02020603050405020304" pitchFamily="18" charset="0"/>
                          <a:cs typeface="Times New Roman" panose="02020603050405020304" pitchFamily="18" charset="0"/>
                        </a:rPr>
                        <a:t>Rule-based classification, interpretable, splits data hierarchically</a:t>
                      </a:r>
                    </a:p>
                  </a:txBody>
                  <a:tcPr anchor="ctr"/>
                </a:tc>
                <a:tc>
                  <a:txBody>
                    <a:bodyPr/>
                    <a:lstStyle/>
                    <a:p>
                      <a:r>
                        <a:rPr lang="en-IN" dirty="0">
                          <a:latin typeface="Times New Roman" panose="02020603050405020304" pitchFamily="18" charset="0"/>
                          <a:cs typeface="Times New Roman" panose="02020603050405020304" pitchFamily="18" charset="0"/>
                        </a:rPr>
                        <a:t>Simple, interpretable, fast to train</a:t>
                      </a:r>
                    </a:p>
                  </a:txBody>
                  <a:tcPr anchor="ctr"/>
                </a:tc>
                <a:tc>
                  <a:txBody>
                    <a:bodyPr/>
                    <a:lstStyle/>
                    <a:p>
                      <a:r>
                        <a:rPr lang="en-US" b="1" dirty="0">
                          <a:latin typeface="Times New Roman" panose="02020603050405020304" pitchFamily="18" charset="0"/>
                          <a:cs typeface="Times New Roman" panose="02020603050405020304" pitchFamily="18" charset="0"/>
                        </a:rPr>
                        <a:t>Prone to overfitting</a:t>
                      </a:r>
                      <a:r>
                        <a:rPr lang="en-US" dirty="0">
                          <a:latin typeface="Times New Roman" panose="02020603050405020304" pitchFamily="18" charset="0"/>
                          <a:cs typeface="Times New Roman" panose="02020603050405020304" pitchFamily="18" charset="0"/>
                        </a:rPr>
                        <a:t>, lowest test accuracy of all models</a:t>
                      </a:r>
                    </a:p>
                  </a:txBody>
                  <a:tcPr anchor="ctr"/>
                </a:tc>
                <a:tc>
                  <a:txBody>
                    <a:bodyPr/>
                    <a:lstStyle/>
                    <a:p>
                      <a:r>
                        <a:rPr lang="en-US" dirty="0">
                          <a:latin typeface="Times New Roman" panose="02020603050405020304" pitchFamily="18" charset="0"/>
                          <a:cs typeface="Times New Roman" panose="02020603050405020304" pitchFamily="18" charset="0"/>
                        </a:rPr>
                        <a:t>Accuracy: </a:t>
                      </a:r>
                      <a:r>
                        <a:rPr lang="en-US" b="1" dirty="0">
                          <a:latin typeface="Times New Roman" panose="02020603050405020304" pitchFamily="18" charset="0"/>
                          <a:cs typeface="Times New Roman" panose="02020603050405020304" pitchFamily="18" charset="0"/>
                        </a:rPr>
                        <a:t>100% (Train)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89.61% (Test)</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2428818"/>
                  </a:ext>
                </a:extLst>
              </a:tr>
            </a:tbl>
          </a:graphicData>
        </a:graphic>
      </p:graphicFrame>
    </p:spTree>
    <p:extLst>
      <p:ext uri="{BB962C8B-B14F-4D97-AF65-F5344CB8AC3E}">
        <p14:creationId xmlns:p14="http://schemas.microsoft.com/office/powerpoint/2010/main" val="339677715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dirty="0">
                <a:ln>
                  <a:noFill/>
                </a:ln>
                <a:solidFill>
                  <a:schemeClr val="tx1"/>
                </a:solidFill>
                <a:effectLst/>
                <a:uLnTx/>
                <a:uFillTx/>
                <a:latin typeface="Book Antiqua" pitchFamily="18" charset="0"/>
                <a:ea typeface="+mn-ea"/>
                <a:cs typeface="+mn-cs"/>
              </a:rPr>
              <a:t>Confusion Metrix</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5" name="Title 1"/>
          <p:cNvSpPr txBox="1">
            <a:spLocks/>
          </p:cNvSpPr>
          <p:nvPr/>
        </p:nvSpPr>
        <p:spPr>
          <a:xfrm>
            <a:off x="457200" y="1143000"/>
            <a:ext cx="8382000" cy="4800600"/>
          </a:xfrm>
          <a:prstGeom prst="rect">
            <a:avLst/>
          </a:prstGeom>
        </p:spPr>
        <p:txBody>
          <a:bodyPr vert="horz" lIns="91440" tIns="45720" rIns="91440" bIns="45720" rtlCol="0" anchor="ctr">
            <a:normAutofit/>
          </a:bodyPr>
          <a:lstStyle/>
          <a:p>
            <a:pPr algn="just"/>
            <a:endParaRPr lang="en-US" sz="800" b="1"/>
          </a:p>
          <a:p>
            <a:pPr algn="just"/>
            <a:endParaRPr lang="en-US" sz="800" b="1"/>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a:ln>
                <a:noFill/>
              </a:ln>
              <a:solidFill>
                <a:schemeClr val="tx1"/>
              </a:solidFill>
              <a:effectLst/>
              <a:uLnTx/>
              <a:uFillTx/>
              <a:latin typeface="+mj-lt"/>
              <a:ea typeface="+mj-ea"/>
              <a:cs typeface="+mj-cs"/>
            </a:endParaRPr>
          </a:p>
        </p:txBody>
      </p:sp>
      <p:sp>
        <p:nvSpPr>
          <p:cNvPr id="10" name="Footer Placeholder 6"/>
          <p:cNvSpPr txBox="1">
            <a:spLocks/>
          </p:cNvSpPr>
          <p:nvPr/>
        </p:nvSpPr>
        <p:spPr>
          <a:xfrm>
            <a:off x="0" y="649287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chemeClr val="tx1"/>
                </a:solidFill>
                <a:effectLst/>
                <a:uLnTx/>
                <a:uFillTx/>
                <a:latin typeface="+mn-lt"/>
                <a:ea typeface="+mn-ea"/>
                <a:cs typeface="+mn-cs"/>
              </a:rPr>
              <a:t>Dept. of ISE, SIT, </a:t>
            </a:r>
            <a:r>
              <a:rPr kumimoji="0" lang="en-IN" sz="1200" b="0" i="0" u="none" strike="noStrike" kern="1200" cap="none" spc="0" normalizeH="0" baseline="0" noProof="0" dirty="0" err="1">
                <a:ln>
                  <a:noFill/>
                </a:ln>
                <a:solidFill>
                  <a:schemeClr val="tx1"/>
                </a:solidFill>
                <a:effectLst/>
                <a:uLnTx/>
                <a:uFillTx/>
                <a:latin typeface="+mn-lt"/>
                <a:ea typeface="+mn-ea"/>
                <a:cs typeface="+mn-cs"/>
              </a:rPr>
              <a:t>Tumkur</a:t>
            </a:r>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pic>
        <p:nvPicPr>
          <p:cNvPr id="11"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84182"/>
            <a:ext cx="375082" cy="382509"/>
          </a:xfrm>
          <a:prstGeom prst="rect">
            <a:avLst/>
          </a:prstGeom>
          <a:noFill/>
        </p:spPr>
      </p:pic>
      <p:sp>
        <p:nvSpPr>
          <p:cNvPr id="12"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Title 1"/>
          <p:cNvSpPr>
            <a:spLocks noGrp="1"/>
          </p:cNvSpPr>
          <p:nvPr>
            <p:ph type="title"/>
          </p:nvPr>
        </p:nvSpPr>
        <p:spPr>
          <a:xfrm>
            <a:off x="457200" y="457200"/>
            <a:ext cx="82296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CONFUSION METRIX</a:t>
            </a:r>
          </a:p>
        </p:txBody>
      </p:sp>
      <p:graphicFrame>
        <p:nvGraphicFramePr>
          <p:cNvPr id="2" name="Table 2">
            <a:extLst>
              <a:ext uri="{FF2B5EF4-FFF2-40B4-BE49-F238E27FC236}">
                <a16:creationId xmlns:a16="http://schemas.microsoft.com/office/drawing/2014/main" id="{0D8AEC06-76BD-9D39-D47A-942757C3A3CF}"/>
              </a:ext>
            </a:extLst>
          </p:cNvPr>
          <p:cNvGraphicFramePr>
            <a:graphicFrameLocks noGrp="1"/>
          </p:cNvGraphicFramePr>
          <p:nvPr>
            <p:extLst>
              <p:ext uri="{D42A27DB-BD31-4B8C-83A1-F6EECF244321}">
                <p14:modId xmlns:p14="http://schemas.microsoft.com/office/powerpoint/2010/main" val="3528909070"/>
              </p:ext>
            </p:extLst>
          </p:nvPr>
        </p:nvGraphicFramePr>
        <p:xfrm>
          <a:off x="589280" y="1397000"/>
          <a:ext cx="7975600" cy="4947920"/>
        </p:xfrm>
        <a:graphic>
          <a:graphicData uri="http://schemas.openxmlformats.org/drawingml/2006/table">
            <a:tbl>
              <a:tblPr firstRow="1" bandRow="1">
                <a:tableStyleId>{93296810-A885-4BE3-A3E7-6D5BEEA58F35}</a:tableStyleId>
              </a:tblPr>
              <a:tblGrid>
                <a:gridCol w="996950">
                  <a:extLst>
                    <a:ext uri="{9D8B030D-6E8A-4147-A177-3AD203B41FA5}">
                      <a16:colId xmlns:a16="http://schemas.microsoft.com/office/drawing/2014/main" val="1107554015"/>
                    </a:ext>
                  </a:extLst>
                </a:gridCol>
                <a:gridCol w="996950">
                  <a:extLst>
                    <a:ext uri="{9D8B030D-6E8A-4147-A177-3AD203B41FA5}">
                      <a16:colId xmlns:a16="http://schemas.microsoft.com/office/drawing/2014/main" val="989874566"/>
                    </a:ext>
                  </a:extLst>
                </a:gridCol>
                <a:gridCol w="996950">
                  <a:extLst>
                    <a:ext uri="{9D8B030D-6E8A-4147-A177-3AD203B41FA5}">
                      <a16:colId xmlns:a16="http://schemas.microsoft.com/office/drawing/2014/main" val="1340471625"/>
                    </a:ext>
                  </a:extLst>
                </a:gridCol>
                <a:gridCol w="996950">
                  <a:extLst>
                    <a:ext uri="{9D8B030D-6E8A-4147-A177-3AD203B41FA5}">
                      <a16:colId xmlns:a16="http://schemas.microsoft.com/office/drawing/2014/main" val="45253243"/>
                    </a:ext>
                  </a:extLst>
                </a:gridCol>
                <a:gridCol w="996950">
                  <a:extLst>
                    <a:ext uri="{9D8B030D-6E8A-4147-A177-3AD203B41FA5}">
                      <a16:colId xmlns:a16="http://schemas.microsoft.com/office/drawing/2014/main" val="1738476752"/>
                    </a:ext>
                  </a:extLst>
                </a:gridCol>
                <a:gridCol w="996950">
                  <a:extLst>
                    <a:ext uri="{9D8B030D-6E8A-4147-A177-3AD203B41FA5}">
                      <a16:colId xmlns:a16="http://schemas.microsoft.com/office/drawing/2014/main" val="1035223511"/>
                    </a:ext>
                  </a:extLst>
                </a:gridCol>
                <a:gridCol w="996950">
                  <a:extLst>
                    <a:ext uri="{9D8B030D-6E8A-4147-A177-3AD203B41FA5}">
                      <a16:colId xmlns:a16="http://schemas.microsoft.com/office/drawing/2014/main" val="2809607952"/>
                    </a:ext>
                  </a:extLst>
                </a:gridCol>
                <a:gridCol w="996950">
                  <a:extLst>
                    <a:ext uri="{9D8B030D-6E8A-4147-A177-3AD203B41FA5}">
                      <a16:colId xmlns:a16="http://schemas.microsoft.com/office/drawing/2014/main" val="1871029355"/>
                    </a:ext>
                  </a:extLst>
                </a:gridCol>
              </a:tblGrid>
              <a:tr h="939800">
                <a:tc>
                  <a:txBody>
                    <a:bodyPr/>
                    <a:lstStyle/>
                    <a:p>
                      <a:r>
                        <a:rPr lang="en-IN" b="1" dirty="0">
                          <a:latin typeface="Times New Roman" panose="02020603050405020304" pitchFamily="18" charset="0"/>
                          <a:cs typeface="Times New Roman" panose="02020603050405020304" pitchFamily="18" charset="0"/>
                        </a:rPr>
                        <a:t>Algorithm</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b="1" dirty="0">
                          <a:latin typeface="Times New Roman" panose="02020603050405020304" pitchFamily="18" charset="0"/>
                          <a:cs typeface="Times New Roman" panose="02020603050405020304" pitchFamily="18" charset="0"/>
                        </a:rPr>
                        <a:t>Accuracy</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b="1" dirty="0">
                          <a:latin typeface="Times New Roman" panose="02020603050405020304" pitchFamily="18" charset="0"/>
                          <a:cs typeface="Times New Roman" panose="02020603050405020304" pitchFamily="18" charset="0"/>
                        </a:rPr>
                        <a:t>Precision (Class 1)</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b="1" dirty="0">
                          <a:latin typeface="Times New Roman" panose="02020603050405020304" pitchFamily="18" charset="0"/>
                          <a:cs typeface="Times New Roman" panose="02020603050405020304" pitchFamily="18" charset="0"/>
                        </a:rPr>
                        <a:t>Recall (Class 1)</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0.44</a:t>
                      </a:r>
                    </a:p>
                  </a:txBody>
                  <a:tcPr anchor="ctr"/>
                </a:tc>
                <a:tc>
                  <a:txBody>
                    <a:bodyPr/>
                    <a:lstStyle/>
                    <a:p>
                      <a:r>
                        <a:rPr lang="en-IN" b="1" dirty="0">
                          <a:latin typeface="Times New Roman" panose="02020603050405020304" pitchFamily="18" charset="0"/>
                          <a:cs typeface="Times New Roman" panose="02020603050405020304" pitchFamily="18" charset="0"/>
                        </a:rPr>
                        <a:t>Precision (Class 0)</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b="1" dirty="0">
                          <a:latin typeface="Times New Roman" panose="02020603050405020304" pitchFamily="18" charset="0"/>
                          <a:cs typeface="Times New Roman" panose="02020603050405020304" pitchFamily="18" charset="0"/>
                        </a:rPr>
                        <a:t>Recall (Class 0)</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b="1" dirty="0">
                          <a:latin typeface="Times New Roman" panose="02020603050405020304" pitchFamily="18" charset="0"/>
                          <a:cs typeface="Times New Roman" panose="02020603050405020304" pitchFamily="18" charset="0"/>
                        </a:rPr>
                        <a:t>F1-Score (Class 0)</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15900135"/>
                  </a:ext>
                </a:extLst>
              </a:tr>
              <a:tr h="939800">
                <a:tc>
                  <a:txBody>
                    <a:bodyPr/>
                    <a:lstStyle/>
                    <a:p>
                      <a:r>
                        <a:rPr lang="en-IN" b="1" dirty="0">
                          <a:latin typeface="Times New Roman" panose="02020603050405020304" pitchFamily="18" charset="0"/>
                          <a:cs typeface="Times New Roman" panose="02020603050405020304" pitchFamily="18" charset="0"/>
                        </a:rPr>
                        <a:t>Logistic Regression</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92.21%</a:t>
                      </a:r>
                    </a:p>
                  </a:txBody>
                  <a:tcPr anchor="ctr"/>
                </a:tc>
                <a:tc>
                  <a:txBody>
                    <a:bodyPr/>
                    <a:lstStyle/>
                    <a:p>
                      <a:r>
                        <a:rPr lang="en-IN" dirty="0">
                          <a:latin typeface="Times New Roman" panose="02020603050405020304" pitchFamily="18" charset="0"/>
                          <a:cs typeface="Times New Roman" panose="02020603050405020304" pitchFamily="18" charset="0"/>
                        </a:rPr>
                        <a:t>0.36</a:t>
                      </a:r>
                    </a:p>
                  </a:txBody>
                  <a:tcPr anchor="ctr"/>
                </a:tc>
                <a:tc>
                  <a:txBody>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0.72</a:t>
                      </a:r>
                    </a:p>
                  </a:txBody>
                  <a:tcPr/>
                </a:tc>
                <a:tc>
                  <a:txBody>
                    <a:bodyPr/>
                    <a:lstStyle/>
                    <a:p>
                      <a:r>
                        <a:rPr lang="en-IN" dirty="0">
                          <a:latin typeface="Times New Roman" panose="02020603050405020304" pitchFamily="18" charset="0"/>
                          <a:cs typeface="Times New Roman" panose="02020603050405020304" pitchFamily="18" charset="0"/>
                        </a:rPr>
                        <a:t>0.48</a:t>
                      </a:r>
                    </a:p>
                  </a:txBody>
                  <a:tcPr anchor="ctr"/>
                </a:tc>
                <a:tc>
                  <a:txBody>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0.97</a:t>
                      </a:r>
                    </a:p>
                  </a:txBody>
                  <a:tcPr/>
                </a:tc>
                <a:tc>
                  <a:txBody>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0.88</a:t>
                      </a:r>
                    </a:p>
                  </a:txBody>
                  <a:tcPr/>
                </a:tc>
                <a:tc>
                  <a:txBody>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0.93</a:t>
                      </a:r>
                    </a:p>
                  </a:txBody>
                  <a:tcPr/>
                </a:tc>
                <a:extLst>
                  <a:ext uri="{0D108BD9-81ED-4DB2-BD59-A6C34878D82A}">
                    <a16:rowId xmlns:a16="http://schemas.microsoft.com/office/drawing/2014/main" val="1699132813"/>
                  </a:ext>
                </a:extLst>
              </a:tr>
              <a:tr h="939800">
                <a:tc>
                  <a:txBody>
                    <a:bodyPr/>
                    <a:lstStyle/>
                    <a:p>
                      <a:r>
                        <a:rPr lang="en-IN" b="1" dirty="0">
                          <a:latin typeface="Times New Roman" panose="02020603050405020304" pitchFamily="18" charset="0"/>
                          <a:cs typeface="Times New Roman" panose="02020603050405020304" pitchFamily="18" charset="0"/>
                        </a:rPr>
                        <a:t>Random Forest</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92.21%</a:t>
                      </a:r>
                    </a:p>
                  </a:txBody>
                  <a:tcPr anchor="ctr"/>
                </a:tc>
                <a:tc>
                  <a:txBody>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0.76</a:t>
                      </a:r>
                    </a:p>
                  </a:txBody>
                  <a:tcPr/>
                </a:tc>
                <a:tc>
                  <a:txBody>
                    <a:bodyPr/>
                    <a:lstStyle/>
                    <a:p>
                      <a:r>
                        <a:rPr lang="en-IN" dirty="0">
                          <a:latin typeface="Times New Roman" panose="02020603050405020304" pitchFamily="18" charset="0"/>
                          <a:cs typeface="Times New Roman" panose="02020603050405020304" pitchFamily="18" charset="0"/>
                        </a:rPr>
                        <a:t>0.64</a:t>
                      </a:r>
                    </a:p>
                  </a:txBody>
                  <a:tcPr anchor="ctr"/>
                </a:tc>
                <a:tc>
                  <a:txBody>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0.70</a:t>
                      </a:r>
                    </a:p>
                  </a:txBody>
                  <a:tcPr/>
                </a:tc>
                <a:tc>
                  <a:txBody>
                    <a:bodyPr/>
                    <a:lstStyle/>
                    <a:p>
                      <a:r>
                        <a:rPr lang="en-IN" dirty="0">
                          <a:latin typeface="Times New Roman" panose="02020603050405020304" pitchFamily="18" charset="0"/>
                          <a:cs typeface="Times New Roman" panose="02020603050405020304" pitchFamily="18" charset="0"/>
                        </a:rPr>
                        <a:t>0.97</a:t>
                      </a:r>
                    </a:p>
                  </a:txBody>
                  <a:tcPr anchor="ctr"/>
                </a:tc>
                <a:tc>
                  <a:txBody>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0.98</a:t>
                      </a:r>
                    </a:p>
                  </a:txBody>
                  <a:tcPr/>
                </a:tc>
                <a:tc>
                  <a:txBody>
                    <a:bodyPr/>
                    <a:lstStyle/>
                    <a:p>
                      <a:r>
                        <a:rPr lang="en-IN" dirty="0">
                          <a:latin typeface="Times New Roman" panose="02020603050405020304" pitchFamily="18" charset="0"/>
                          <a:cs typeface="Times New Roman" panose="02020603050405020304" pitchFamily="18" charset="0"/>
                        </a:rPr>
                        <a:t>0.97</a:t>
                      </a:r>
                    </a:p>
                  </a:txBody>
                  <a:tcPr anchor="ctr"/>
                </a:tc>
                <a:extLst>
                  <a:ext uri="{0D108BD9-81ED-4DB2-BD59-A6C34878D82A}">
                    <a16:rowId xmlns:a16="http://schemas.microsoft.com/office/drawing/2014/main" val="952324707"/>
                  </a:ext>
                </a:extLst>
              </a:tr>
              <a:tr h="939800">
                <a:tc>
                  <a:txBody>
                    <a:bodyPr/>
                    <a:lstStyle/>
                    <a:p>
                      <a:r>
                        <a:rPr lang="en-IN" b="1" dirty="0" err="1">
                          <a:latin typeface="Times New Roman" panose="02020603050405020304" pitchFamily="18" charset="0"/>
                          <a:cs typeface="Times New Roman" panose="02020603050405020304" pitchFamily="18" charset="0"/>
                        </a:rPr>
                        <a:t>XGBoost</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Prefered</a:t>
                      </a:r>
                      <a:r>
                        <a:rPr lang="en-IN" b="1" dirty="0">
                          <a:latin typeface="Times New Roman" panose="02020603050405020304" pitchFamily="18" charset="0"/>
                          <a:cs typeface="Times New Roman" panose="02020603050405020304" pitchFamily="18" charset="0"/>
                        </a:rPr>
                        <a:t>)</a:t>
                      </a:r>
                    </a:p>
                  </a:txBody>
                  <a:tcPr/>
                </a:tc>
                <a:tc>
                  <a:txBody>
                    <a:bodyPr/>
                    <a:lstStyle/>
                    <a:p>
                      <a:r>
                        <a:rPr lang="en-IN" b="1" dirty="0">
                          <a:latin typeface="Times New Roman" panose="02020603050405020304" pitchFamily="18" charset="0"/>
                          <a:cs typeface="Times New Roman" panose="02020603050405020304" pitchFamily="18" charset="0"/>
                        </a:rPr>
                        <a:t>93.51% </a:t>
                      </a:r>
                    </a:p>
                  </a:txBody>
                  <a:tcPr anchor="ctr"/>
                </a:tc>
                <a:tc>
                  <a:txBody>
                    <a:bodyPr/>
                    <a:lstStyle/>
                    <a:p>
                      <a:r>
                        <a:rPr lang="en-IN" b="1" dirty="0">
                          <a:latin typeface="Times New Roman" panose="02020603050405020304" pitchFamily="18" charset="0"/>
                          <a:cs typeface="Times New Roman" panose="02020603050405020304" pitchFamily="18" charset="0"/>
                        </a:rPr>
                        <a:t>0.79</a:t>
                      </a:r>
                    </a:p>
                  </a:txBody>
                  <a:tcPr anchor="ctr"/>
                </a:tc>
                <a:tc>
                  <a:txBody>
                    <a:bodyPr/>
                    <a:lstStyle/>
                    <a:p>
                      <a:r>
                        <a:rPr lang="en-IN" b="1" dirty="0">
                          <a:latin typeface="Times New Roman" panose="02020603050405020304" pitchFamily="18" charset="0"/>
                          <a:cs typeface="Times New Roman" panose="02020603050405020304" pitchFamily="18" charset="0"/>
                        </a:rPr>
                        <a:t>0.76</a:t>
                      </a:r>
                    </a:p>
                  </a:txBody>
                  <a:tcPr anchor="ctr"/>
                </a:tc>
                <a:tc>
                  <a:txBody>
                    <a:bodyPr/>
                    <a:lstStyle/>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0.78</a:t>
                      </a:r>
                    </a:p>
                  </a:txBody>
                  <a:tcPr/>
                </a:tc>
                <a:tc>
                  <a:txBody>
                    <a:bodyPr/>
                    <a:lstStyle/>
                    <a:p>
                      <a:r>
                        <a:rPr lang="en-IN" b="1" dirty="0">
                          <a:latin typeface="Times New Roman" panose="02020603050405020304" pitchFamily="18" charset="0"/>
                          <a:cs typeface="Times New Roman" panose="02020603050405020304" pitchFamily="18" charset="0"/>
                        </a:rPr>
                        <a:t>0.98</a:t>
                      </a:r>
                    </a:p>
                  </a:txBody>
                  <a:tcPr anchor="ctr"/>
                </a:tc>
                <a:tc>
                  <a:txBody>
                    <a:bodyPr/>
                    <a:lstStyle/>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0.98</a:t>
                      </a:r>
                    </a:p>
                  </a:txBody>
                  <a:tcPr/>
                </a:tc>
                <a:tc>
                  <a:txBody>
                    <a:bodyPr/>
                    <a:lstStyle/>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0.98</a:t>
                      </a:r>
                    </a:p>
                  </a:txBody>
                  <a:tcPr/>
                </a:tc>
                <a:extLst>
                  <a:ext uri="{0D108BD9-81ED-4DB2-BD59-A6C34878D82A}">
                    <a16:rowId xmlns:a16="http://schemas.microsoft.com/office/drawing/2014/main" val="3002657944"/>
                  </a:ext>
                </a:extLst>
              </a:tr>
              <a:tr h="939800">
                <a:tc>
                  <a:txBody>
                    <a:bodyPr/>
                    <a:lstStyle/>
                    <a:p>
                      <a:r>
                        <a:rPr lang="en-IN" b="1" dirty="0">
                          <a:latin typeface="Times New Roman" panose="02020603050405020304" pitchFamily="18" charset="0"/>
                          <a:cs typeface="Times New Roman" panose="02020603050405020304" pitchFamily="18" charset="0"/>
                        </a:rPr>
                        <a:t>Decision Tree</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89.61%</a:t>
                      </a:r>
                    </a:p>
                  </a:txBody>
                  <a:tcPr anchor="ctr"/>
                </a:tc>
                <a:tc>
                  <a:txBody>
                    <a:bodyPr/>
                    <a:lstStyle/>
                    <a:p>
                      <a:r>
                        <a:rPr lang="en-IN" dirty="0">
                          <a:latin typeface="Times New Roman" panose="02020603050405020304" pitchFamily="18" charset="0"/>
                          <a:cs typeface="Times New Roman" panose="02020603050405020304" pitchFamily="18" charset="0"/>
                        </a:rPr>
                        <a:t>0.44</a:t>
                      </a:r>
                    </a:p>
                  </a:txBody>
                  <a:tcPr anchor="ctr"/>
                </a:tc>
                <a:tc>
                  <a:txBody>
                    <a:bodyPr/>
                    <a:lstStyle/>
                    <a:p>
                      <a:r>
                        <a:rPr lang="en-IN" dirty="0">
                          <a:latin typeface="Times New Roman" panose="02020603050405020304" pitchFamily="18" charset="0"/>
                          <a:cs typeface="Times New Roman" panose="02020603050405020304" pitchFamily="18" charset="0"/>
                        </a:rPr>
                        <a:t>0.44</a:t>
                      </a:r>
                    </a:p>
                  </a:txBody>
                  <a:tcPr anchor="ctr"/>
                </a:tc>
                <a:tc>
                  <a:txBody>
                    <a:bodyPr/>
                    <a:lstStyle/>
                    <a:p>
                      <a:r>
                        <a:rPr lang="en-IN" dirty="0">
                          <a:latin typeface="Times New Roman" panose="02020603050405020304" pitchFamily="18" charset="0"/>
                          <a:cs typeface="Times New Roman" panose="02020603050405020304" pitchFamily="18" charset="0"/>
                        </a:rPr>
                        <a:t>0.44</a:t>
                      </a:r>
                    </a:p>
                  </a:txBody>
                  <a:tcPr anchor="ctr"/>
                </a:tc>
                <a:tc>
                  <a:txBody>
                    <a:bodyPr/>
                    <a:lstStyle/>
                    <a:p>
                      <a:r>
                        <a:rPr lang="en-IN" dirty="0">
                          <a:latin typeface="Times New Roman" panose="02020603050405020304" pitchFamily="18" charset="0"/>
                          <a:cs typeface="Times New Roman" panose="02020603050405020304" pitchFamily="18" charset="0"/>
                        </a:rPr>
                        <a:t>0.95</a:t>
                      </a:r>
                    </a:p>
                  </a:txBody>
                  <a:tcPr anchor="ctr"/>
                </a:tc>
                <a:tc>
                  <a:txBody>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0.95</a:t>
                      </a:r>
                    </a:p>
                  </a:txBody>
                  <a:tcPr/>
                </a:tc>
                <a:tc>
                  <a:txBody>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0.95</a:t>
                      </a:r>
                    </a:p>
                  </a:txBody>
                  <a:tcPr/>
                </a:tc>
                <a:extLst>
                  <a:ext uri="{0D108BD9-81ED-4DB2-BD59-A6C34878D82A}">
                    <a16:rowId xmlns:a16="http://schemas.microsoft.com/office/drawing/2014/main" val="2143635418"/>
                  </a:ext>
                </a:extLst>
              </a:tr>
            </a:tbl>
          </a:graphicData>
        </a:graphic>
      </p:graphicFrame>
    </p:spTree>
    <p:extLst>
      <p:ext uri="{BB962C8B-B14F-4D97-AF65-F5344CB8AC3E}">
        <p14:creationId xmlns:p14="http://schemas.microsoft.com/office/powerpoint/2010/main" val="114841171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04800"/>
            <a:ext cx="86868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APPLICATION</a:t>
            </a:r>
          </a:p>
        </p:txBody>
      </p:sp>
      <p:sp>
        <p:nvSpPr>
          <p:cNvPr id="3" name="Content Placeholder 2"/>
          <p:cNvSpPr>
            <a:spLocks noGrp="1"/>
          </p:cNvSpPr>
          <p:nvPr>
            <p:ph idx="1"/>
          </p:nvPr>
        </p:nvSpPr>
        <p:spPr>
          <a:xfrm>
            <a:off x="457200" y="990600"/>
            <a:ext cx="8229600" cy="5562600"/>
          </a:xfrm>
        </p:spPr>
        <p:txBody>
          <a:bodyPr>
            <a:noAutofit/>
          </a:bodyPr>
          <a:lstStyle/>
          <a:p>
            <a:pPr algn="just">
              <a:buFont typeface="Wingdings" panose="05000000000000000000" pitchFamily="2" charset="2"/>
              <a:buChar char="Ø"/>
            </a:pPr>
            <a:r>
              <a:rPr lang="en-US" sz="2000" b="1" i="0" dirty="0">
                <a:solidFill>
                  <a:srgbClr val="0D0D0D"/>
                </a:solidFill>
                <a:effectLst/>
                <a:latin typeface="Times New Roman" panose="02020603050405020304" pitchFamily="18" charset="0"/>
                <a:cs typeface="Times New Roman" panose="02020603050405020304" pitchFamily="18" charset="0"/>
              </a:rPr>
              <a:t>Financial Institutions</a:t>
            </a:r>
            <a:r>
              <a:rPr lang="en-US" sz="2000" b="0" i="0" dirty="0">
                <a:solidFill>
                  <a:srgbClr val="0D0D0D"/>
                </a:solidFill>
                <a:effectLst/>
                <a:latin typeface="Times New Roman" panose="02020603050405020304" pitchFamily="18" charset="0"/>
                <a:cs typeface="Times New Roman" panose="02020603050405020304" pitchFamily="18" charset="0"/>
              </a:rPr>
              <a:t>: Implement real-time fraud detection systems to identify and mitigate fraudulent transactions across banking, credit card, and payment systems, enhancing customer trust and security.</a:t>
            </a:r>
          </a:p>
          <a:p>
            <a:pPr algn="just">
              <a:buFont typeface="Wingdings" panose="05000000000000000000" pitchFamily="2" charset="2"/>
              <a:buChar char="Ø"/>
            </a:pPr>
            <a:r>
              <a:rPr lang="en-US" sz="2000" b="1" i="0" dirty="0">
                <a:solidFill>
                  <a:srgbClr val="0D0D0D"/>
                </a:solidFill>
                <a:effectLst/>
                <a:latin typeface="Times New Roman" panose="02020603050405020304" pitchFamily="18" charset="0"/>
                <a:cs typeface="Times New Roman" panose="02020603050405020304" pitchFamily="18" charset="0"/>
              </a:rPr>
              <a:t>E-Commerce Platforms</a:t>
            </a:r>
            <a:r>
              <a:rPr lang="en-US" sz="2000" b="0" i="0" dirty="0">
                <a:solidFill>
                  <a:srgbClr val="0D0D0D"/>
                </a:solidFill>
                <a:effectLst/>
                <a:latin typeface="Times New Roman" panose="02020603050405020304" pitchFamily="18" charset="0"/>
                <a:cs typeface="Times New Roman" panose="02020603050405020304" pitchFamily="18" charset="0"/>
              </a:rPr>
              <a:t>: Utilize machine learning algorithms to monitor transactions, preventing chargebacks and losses while improving user experience through reduced false positives.</a:t>
            </a:r>
          </a:p>
          <a:p>
            <a:pPr algn="just">
              <a:buFont typeface="Wingdings" panose="05000000000000000000" pitchFamily="2" charset="2"/>
              <a:buChar char="Ø"/>
            </a:pPr>
            <a:r>
              <a:rPr lang="en-US" sz="2000" b="1" i="0" dirty="0">
                <a:solidFill>
                  <a:srgbClr val="0D0D0D"/>
                </a:solidFill>
                <a:effectLst/>
                <a:latin typeface="Times New Roman" panose="02020603050405020304" pitchFamily="18" charset="0"/>
                <a:cs typeface="Times New Roman" panose="02020603050405020304" pitchFamily="18" charset="0"/>
              </a:rPr>
              <a:t>Insurance Companies</a:t>
            </a:r>
            <a:r>
              <a:rPr lang="en-US" sz="2000" b="0" i="0" dirty="0">
                <a:solidFill>
                  <a:srgbClr val="0D0D0D"/>
                </a:solidFill>
                <a:effectLst/>
                <a:latin typeface="Times New Roman" panose="02020603050405020304" pitchFamily="18" charset="0"/>
                <a:cs typeface="Times New Roman" panose="02020603050405020304" pitchFamily="18" charset="0"/>
              </a:rPr>
              <a:t>: Apply fraud detection models to claims processing, identifying suspicious patterns to reduce fraudulent claims and enhance operational efficiency.</a:t>
            </a:r>
          </a:p>
          <a:p>
            <a:pPr algn="just">
              <a:buFont typeface="Wingdings" panose="05000000000000000000" pitchFamily="2" charset="2"/>
              <a:buChar char="Ø"/>
            </a:pPr>
            <a:r>
              <a:rPr lang="en-US" sz="2000" b="1" i="0" dirty="0">
                <a:solidFill>
                  <a:srgbClr val="0D0D0D"/>
                </a:solidFill>
                <a:effectLst/>
                <a:latin typeface="Times New Roman" panose="02020603050405020304" pitchFamily="18" charset="0"/>
                <a:cs typeface="Times New Roman" panose="02020603050405020304" pitchFamily="18" charset="0"/>
              </a:rPr>
              <a:t>Regulatory Compliance</a:t>
            </a:r>
            <a:r>
              <a:rPr lang="en-US" sz="2000" b="0" i="0" dirty="0">
                <a:solidFill>
                  <a:srgbClr val="0D0D0D"/>
                </a:solidFill>
                <a:effectLst/>
                <a:latin typeface="Times New Roman" panose="02020603050405020304" pitchFamily="18" charset="0"/>
                <a:cs typeface="Times New Roman" panose="02020603050405020304" pitchFamily="18" charset="0"/>
              </a:rPr>
              <a:t>: Aid organizations in adhering to anti-money laundering (AML) and Know Your Customer (KYC) regulations by employing advanced analytics to monitor transactions for suspicious activity.</a:t>
            </a:r>
          </a:p>
          <a:p>
            <a:pPr algn="just">
              <a:buFont typeface="Wingdings" panose="05000000000000000000" pitchFamily="2" charset="2"/>
              <a:buChar char="Ø"/>
            </a:pPr>
            <a:r>
              <a:rPr lang="en-US" sz="2000" b="1" i="0" dirty="0">
                <a:solidFill>
                  <a:srgbClr val="0D0D0D"/>
                </a:solidFill>
                <a:effectLst/>
                <a:latin typeface="Times New Roman" panose="02020603050405020304" pitchFamily="18" charset="0"/>
                <a:cs typeface="Times New Roman" panose="02020603050405020304" pitchFamily="18" charset="0"/>
              </a:rPr>
              <a:t>Risk Assessment</a:t>
            </a:r>
            <a:r>
              <a:rPr lang="en-US" sz="2000" b="0" i="0" dirty="0">
                <a:solidFill>
                  <a:srgbClr val="0D0D0D"/>
                </a:solidFill>
                <a:effectLst/>
                <a:latin typeface="Times New Roman" panose="02020603050405020304" pitchFamily="18" charset="0"/>
                <a:cs typeface="Times New Roman" panose="02020603050405020304" pitchFamily="18" charset="0"/>
              </a:rPr>
              <a:t>: Integrate AI-driven solutions to evaluate risk profiles of customers and transactions, allowing organizations to make informed decisions and minimize exposure to fraud.</a:t>
            </a:r>
          </a:p>
          <a:p>
            <a:pPr algn="just">
              <a:buFont typeface="Wingdings" panose="05000000000000000000" pitchFamily="2" charset="2"/>
              <a:buChar char="Ø"/>
            </a:pPr>
            <a:endParaRPr lang="en-US" sz="2400" b="1" dirty="0">
              <a:latin typeface="Times New Roman" panose="02020603050405020304" pitchFamily="18" charset="0"/>
              <a:cs typeface="Times New Roman" pitchFamily="18" charset="0"/>
            </a:endParaRPr>
          </a:p>
        </p:txBody>
      </p:sp>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sv-SE" b="1" dirty="0">
                <a:latin typeface="Book Antiqua" pitchFamily="18" charset="0"/>
              </a:rPr>
              <a:t>Application</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11" name="Footer Placeholder 6"/>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92875"/>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6595313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04800"/>
            <a:ext cx="86868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RESULTS</a:t>
            </a:r>
          </a:p>
        </p:txBody>
      </p:sp>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dirty="0">
                <a:ln>
                  <a:noFill/>
                </a:ln>
                <a:solidFill>
                  <a:schemeClr val="tx1"/>
                </a:solidFill>
                <a:effectLst/>
                <a:uLnTx/>
                <a:uFillTx/>
                <a:latin typeface="Book Antiqua" pitchFamily="18" charset="0"/>
                <a:ea typeface="+mn-ea"/>
                <a:cs typeface="+mn-cs"/>
              </a:rPr>
              <a:t>Results</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11" name="Footer Placeholder 6"/>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92875"/>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0" name="Content Placeholder 9">
            <a:extLst>
              <a:ext uri="{FF2B5EF4-FFF2-40B4-BE49-F238E27FC236}">
                <a16:creationId xmlns:a16="http://schemas.microsoft.com/office/drawing/2014/main" id="{F92583B2-4404-4326-B68A-7D179F93E062}"/>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bwMode="auto">
          <a:xfrm>
            <a:off x="1064737" y="1035684"/>
            <a:ext cx="7014525" cy="4165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a:extLst>
              <a:ext uri="{FF2B5EF4-FFF2-40B4-BE49-F238E27FC236}">
                <a16:creationId xmlns:a16="http://schemas.microsoft.com/office/drawing/2014/main" id="{52503E9F-8D5A-CD7C-5364-3913E333FD01}"/>
              </a:ext>
            </a:extLst>
          </p:cNvPr>
          <p:cNvSpPr txBox="1"/>
          <p:nvPr/>
        </p:nvSpPr>
        <p:spPr>
          <a:xfrm>
            <a:off x="2984498" y="5477588"/>
            <a:ext cx="4655821" cy="369332"/>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1. Cloned Website Overview</a:t>
            </a:r>
          </a:p>
        </p:txBody>
      </p:sp>
    </p:spTree>
    <p:extLst>
      <p:ext uri="{BB962C8B-B14F-4D97-AF65-F5344CB8AC3E}">
        <p14:creationId xmlns:p14="http://schemas.microsoft.com/office/powerpoint/2010/main" val="50781772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04800"/>
            <a:ext cx="86868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RESULTS</a:t>
            </a:r>
          </a:p>
        </p:txBody>
      </p:sp>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dirty="0">
                <a:ln>
                  <a:noFill/>
                </a:ln>
                <a:solidFill>
                  <a:schemeClr val="tx1"/>
                </a:solidFill>
                <a:effectLst/>
                <a:uLnTx/>
                <a:uFillTx/>
                <a:latin typeface="Book Antiqua" pitchFamily="18" charset="0"/>
                <a:ea typeface="+mn-ea"/>
                <a:cs typeface="+mn-cs"/>
              </a:rPr>
              <a:t>Results</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11" name="Footer Placeholder 6"/>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92875"/>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5" name="Content Placeholder 4">
            <a:extLst>
              <a:ext uri="{FF2B5EF4-FFF2-40B4-BE49-F238E27FC236}">
                <a16:creationId xmlns:a16="http://schemas.microsoft.com/office/drawing/2014/main" id="{55F69A4C-155C-2D25-5730-751E06E7CE4A}"/>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bwMode="auto">
          <a:xfrm>
            <a:off x="959557" y="1137921"/>
            <a:ext cx="7224886" cy="40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a:extLst>
              <a:ext uri="{FF2B5EF4-FFF2-40B4-BE49-F238E27FC236}">
                <a16:creationId xmlns:a16="http://schemas.microsoft.com/office/drawing/2014/main" id="{53C7617C-E246-A1ED-A37F-F5926F9E8E3C}"/>
              </a:ext>
            </a:extLst>
          </p:cNvPr>
          <p:cNvSpPr txBox="1"/>
          <p:nvPr/>
        </p:nvSpPr>
        <p:spPr>
          <a:xfrm>
            <a:off x="3223260" y="5493940"/>
            <a:ext cx="45974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2. Buying the product </a:t>
            </a:r>
            <a:endParaRPr lang="en-IN" dirty="0"/>
          </a:p>
        </p:txBody>
      </p:sp>
    </p:spTree>
    <p:extLst>
      <p:ext uri="{BB962C8B-B14F-4D97-AF65-F5344CB8AC3E}">
        <p14:creationId xmlns:p14="http://schemas.microsoft.com/office/powerpoint/2010/main" val="11141933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04800"/>
            <a:ext cx="86868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RESULTS</a:t>
            </a:r>
          </a:p>
        </p:txBody>
      </p:sp>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dirty="0">
                <a:ln>
                  <a:noFill/>
                </a:ln>
                <a:solidFill>
                  <a:schemeClr val="tx1"/>
                </a:solidFill>
                <a:effectLst/>
                <a:uLnTx/>
                <a:uFillTx/>
                <a:latin typeface="Book Antiqua" pitchFamily="18" charset="0"/>
                <a:ea typeface="+mn-ea"/>
                <a:cs typeface="+mn-cs"/>
              </a:rPr>
              <a:t>Results</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11" name="Footer Placeholder 6"/>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92875"/>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5" name="Content Placeholder 4">
            <a:extLst>
              <a:ext uri="{FF2B5EF4-FFF2-40B4-BE49-F238E27FC236}">
                <a16:creationId xmlns:a16="http://schemas.microsoft.com/office/drawing/2014/main" id="{657C7B7E-0F0D-6C96-1120-9302EBB2C42A}"/>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bwMode="auto">
          <a:xfrm>
            <a:off x="986084" y="1218722"/>
            <a:ext cx="7171831" cy="4034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a:extLst>
              <a:ext uri="{FF2B5EF4-FFF2-40B4-BE49-F238E27FC236}">
                <a16:creationId xmlns:a16="http://schemas.microsoft.com/office/drawing/2014/main" id="{1F5FB615-C025-4F7B-EA82-FC8B4E07D623}"/>
              </a:ext>
            </a:extLst>
          </p:cNvPr>
          <p:cNvSpPr txBox="1"/>
          <p:nvPr/>
        </p:nvSpPr>
        <p:spPr>
          <a:xfrm>
            <a:off x="2413000" y="5518785"/>
            <a:ext cx="45974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3.Making the payment through credit card </a:t>
            </a:r>
            <a:endParaRPr lang="en-IN" dirty="0"/>
          </a:p>
        </p:txBody>
      </p:sp>
    </p:spTree>
    <p:extLst>
      <p:ext uri="{BB962C8B-B14F-4D97-AF65-F5344CB8AC3E}">
        <p14:creationId xmlns:p14="http://schemas.microsoft.com/office/powerpoint/2010/main" val="209621443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04800"/>
            <a:ext cx="86868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RESULTS</a:t>
            </a:r>
          </a:p>
        </p:txBody>
      </p:sp>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dirty="0">
                <a:ln>
                  <a:noFill/>
                </a:ln>
                <a:solidFill>
                  <a:schemeClr val="tx1"/>
                </a:solidFill>
                <a:effectLst/>
                <a:uLnTx/>
                <a:uFillTx/>
                <a:latin typeface="Book Antiqua" pitchFamily="18" charset="0"/>
                <a:ea typeface="+mn-ea"/>
                <a:cs typeface="+mn-cs"/>
              </a:rPr>
              <a:t>Results</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11" name="Footer Placeholder 6"/>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92875"/>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5" name="Content Placeholder 4">
            <a:extLst>
              <a:ext uri="{FF2B5EF4-FFF2-40B4-BE49-F238E27FC236}">
                <a16:creationId xmlns:a16="http://schemas.microsoft.com/office/drawing/2014/main" id="{BB92B8BB-84A5-4CF8-A31C-B2189511FD99}"/>
              </a:ext>
            </a:extLst>
          </p:cNvPr>
          <p:cNvPicPr>
            <a:picLocks noGrp="1" noChangeAspect="1"/>
          </p:cNvPicPr>
          <p:nvPr>
            <p:ph idx="1"/>
          </p:nvPr>
        </p:nvPicPr>
        <p:blipFill rotWithShape="1">
          <a:blip r:embed="rId4">
            <a:extLst>
              <a:ext uri="{28A0092B-C50C-407E-A947-70E740481C1C}">
                <a14:useLocalDpi xmlns:a14="http://schemas.microsoft.com/office/drawing/2010/main" val="0"/>
              </a:ext>
            </a:extLst>
          </a:blip>
          <a:srcRect l="32446" t="11489" r="32298" b="54190"/>
          <a:stretch/>
        </p:blipFill>
        <p:spPr bwMode="auto">
          <a:xfrm>
            <a:off x="762148" y="1102185"/>
            <a:ext cx="7619703" cy="41726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TextBox 13">
            <a:extLst>
              <a:ext uri="{FF2B5EF4-FFF2-40B4-BE49-F238E27FC236}">
                <a16:creationId xmlns:a16="http://schemas.microsoft.com/office/drawing/2014/main" id="{997D8ECC-B75D-5229-8C57-4B09070EB124}"/>
              </a:ext>
            </a:extLst>
          </p:cNvPr>
          <p:cNvSpPr txBox="1"/>
          <p:nvPr/>
        </p:nvSpPr>
        <p:spPr>
          <a:xfrm>
            <a:off x="3045459" y="5571149"/>
            <a:ext cx="45974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4. Credit Card Fraud </a:t>
            </a:r>
            <a:r>
              <a:rPr lang="en-US" dirty="0" err="1">
                <a:latin typeface="Times New Roman" panose="02020603050405020304" pitchFamily="18" charset="0"/>
                <a:cs typeface="Times New Roman" panose="02020603050405020304" pitchFamily="18" charset="0"/>
              </a:rPr>
              <a:t>Happend</a:t>
            </a:r>
            <a:endParaRPr lang="en-IN" dirty="0"/>
          </a:p>
        </p:txBody>
      </p:sp>
    </p:spTree>
    <p:extLst>
      <p:ext uri="{BB962C8B-B14F-4D97-AF65-F5344CB8AC3E}">
        <p14:creationId xmlns:p14="http://schemas.microsoft.com/office/powerpoint/2010/main" val="167453926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04800"/>
            <a:ext cx="86868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RESULTS</a:t>
            </a:r>
          </a:p>
        </p:txBody>
      </p:sp>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dirty="0">
                <a:ln>
                  <a:noFill/>
                </a:ln>
                <a:solidFill>
                  <a:schemeClr val="tx1"/>
                </a:solidFill>
                <a:effectLst/>
                <a:uLnTx/>
                <a:uFillTx/>
                <a:latin typeface="Book Antiqua" pitchFamily="18" charset="0"/>
                <a:ea typeface="+mn-ea"/>
                <a:cs typeface="+mn-cs"/>
              </a:rPr>
              <a:t>Results</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11" name="Footer Placeholder 6"/>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92875"/>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5" name="Content Placeholder 4">
            <a:extLst>
              <a:ext uri="{FF2B5EF4-FFF2-40B4-BE49-F238E27FC236}">
                <a16:creationId xmlns:a16="http://schemas.microsoft.com/office/drawing/2014/main" id="{9DEAA5FE-3CB7-732E-756B-1EB271EF45E8}"/>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bwMode="auto">
          <a:xfrm>
            <a:off x="1179688" y="1218247"/>
            <a:ext cx="6967781" cy="3919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875182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04800"/>
            <a:ext cx="86868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RESULTS</a:t>
            </a:r>
          </a:p>
        </p:txBody>
      </p:sp>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dirty="0">
                <a:ln>
                  <a:noFill/>
                </a:ln>
                <a:solidFill>
                  <a:schemeClr val="tx1"/>
                </a:solidFill>
                <a:effectLst/>
                <a:uLnTx/>
                <a:uFillTx/>
                <a:latin typeface="Book Antiqua" pitchFamily="18" charset="0"/>
                <a:ea typeface="+mn-ea"/>
                <a:cs typeface="+mn-cs"/>
              </a:rPr>
              <a:t>Results</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11" name="Footer Placeholder 6"/>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92875"/>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7" name="Content Placeholder 6">
            <a:extLst>
              <a:ext uri="{FF2B5EF4-FFF2-40B4-BE49-F238E27FC236}">
                <a16:creationId xmlns:a16="http://schemas.microsoft.com/office/drawing/2014/main" id="{7DC8AFBC-078D-31F7-1C9E-A42D67953CBE}"/>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868820" y="1125378"/>
            <a:ext cx="7406359" cy="4166077"/>
          </a:xfrm>
        </p:spPr>
      </p:pic>
      <p:sp>
        <p:nvSpPr>
          <p:cNvPr id="14" name="TextBox 13">
            <a:extLst>
              <a:ext uri="{FF2B5EF4-FFF2-40B4-BE49-F238E27FC236}">
                <a16:creationId xmlns:a16="http://schemas.microsoft.com/office/drawing/2014/main" id="{2F1E366B-D1BE-7429-7AE6-A7FEBB158D99}"/>
              </a:ext>
            </a:extLst>
          </p:cNvPr>
          <p:cNvSpPr txBox="1"/>
          <p:nvPr/>
        </p:nvSpPr>
        <p:spPr>
          <a:xfrm>
            <a:off x="2847340" y="5507593"/>
            <a:ext cx="459740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5. Checking the Fraudulent Activity</a:t>
            </a:r>
          </a:p>
        </p:txBody>
      </p:sp>
    </p:spTree>
    <p:extLst>
      <p:ext uri="{BB962C8B-B14F-4D97-AF65-F5344CB8AC3E}">
        <p14:creationId xmlns:p14="http://schemas.microsoft.com/office/powerpoint/2010/main" val="24907669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04800"/>
            <a:ext cx="86868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RESULTS</a:t>
            </a:r>
          </a:p>
        </p:txBody>
      </p:sp>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dirty="0">
                <a:ln>
                  <a:noFill/>
                </a:ln>
                <a:solidFill>
                  <a:schemeClr val="tx1"/>
                </a:solidFill>
                <a:effectLst/>
                <a:uLnTx/>
                <a:uFillTx/>
                <a:latin typeface="Book Antiqua" pitchFamily="18" charset="0"/>
                <a:ea typeface="+mn-ea"/>
                <a:cs typeface="+mn-cs"/>
              </a:rPr>
              <a:t>Results</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11" name="Footer Placeholder 6"/>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92875"/>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7" name="Content Placeholder 6">
            <a:extLst>
              <a:ext uri="{FF2B5EF4-FFF2-40B4-BE49-F238E27FC236}">
                <a16:creationId xmlns:a16="http://schemas.microsoft.com/office/drawing/2014/main" id="{75883A85-1E4D-46EE-4571-9E34EA0188B2}"/>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995961" y="1115219"/>
            <a:ext cx="7314919" cy="4114642"/>
          </a:xfrm>
        </p:spPr>
      </p:pic>
      <p:sp>
        <p:nvSpPr>
          <p:cNvPr id="14" name="TextBox 13">
            <a:extLst>
              <a:ext uri="{FF2B5EF4-FFF2-40B4-BE49-F238E27FC236}">
                <a16:creationId xmlns:a16="http://schemas.microsoft.com/office/drawing/2014/main" id="{46E14FCC-AFCC-E854-BB46-42A4F6005E98}"/>
              </a:ext>
            </a:extLst>
          </p:cNvPr>
          <p:cNvSpPr txBox="1"/>
          <p:nvPr/>
        </p:nvSpPr>
        <p:spPr>
          <a:xfrm>
            <a:off x="1138201" y="5476796"/>
            <a:ext cx="7314919" cy="64633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6. Detection of Fraudulent Activity and not </a:t>
            </a:r>
            <a:r>
              <a:rPr lang="en-IN" dirty="0" err="1">
                <a:latin typeface="Times New Roman" panose="02020603050405020304" pitchFamily="18" charset="0"/>
                <a:cs typeface="Times New Roman" panose="02020603050405020304" pitchFamily="18" charset="0"/>
              </a:rPr>
              <a:t>allowingthe</a:t>
            </a:r>
            <a:r>
              <a:rPr lang="en-IN" dirty="0">
                <a:latin typeface="Times New Roman" panose="02020603050405020304" pitchFamily="18" charset="0"/>
                <a:cs typeface="Times New Roman" panose="02020603050405020304" pitchFamily="18" charset="0"/>
              </a:rPr>
              <a:t> user to enter the credentials.</a:t>
            </a:r>
          </a:p>
        </p:txBody>
      </p:sp>
    </p:spTree>
    <p:extLst>
      <p:ext uri="{BB962C8B-B14F-4D97-AF65-F5344CB8AC3E}">
        <p14:creationId xmlns:p14="http://schemas.microsoft.com/office/powerpoint/2010/main" val="36419172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04800"/>
            <a:ext cx="86868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RESULTS</a:t>
            </a:r>
          </a:p>
        </p:txBody>
      </p:sp>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sv-SE" b="1" i="0" u="none" strike="noStrike" kern="1200" cap="none" spc="0" normalizeH="0" baseline="0" noProof="0" dirty="0">
                <a:ln>
                  <a:noFill/>
                </a:ln>
                <a:solidFill>
                  <a:schemeClr val="tx1"/>
                </a:solidFill>
                <a:effectLst/>
                <a:uLnTx/>
                <a:uFillTx/>
                <a:latin typeface="Book Antiqua" pitchFamily="18" charset="0"/>
                <a:ea typeface="+mn-ea"/>
                <a:cs typeface="+mn-cs"/>
              </a:rPr>
              <a:t>Results</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11" name="Footer Placeholder 6"/>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92875"/>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8" name="Rectangle 4">
            <a:extLst>
              <a:ext uri="{FF2B5EF4-FFF2-40B4-BE49-F238E27FC236}">
                <a16:creationId xmlns:a16="http://schemas.microsoft.com/office/drawing/2014/main" id="{463E4ACB-C41E-6D31-8847-12227BAA0C00}"/>
              </a:ext>
            </a:extLst>
          </p:cNvPr>
          <p:cNvSpPr>
            <a:spLocks noGrp="1" noChangeArrowheads="1"/>
          </p:cNvSpPr>
          <p:nvPr>
            <p:ph idx="1"/>
          </p:nvPr>
        </p:nvSpPr>
        <p:spPr bwMode="auto">
          <a:xfrm>
            <a:off x="482600" y="1067932"/>
            <a:ext cx="817880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Performance:</a:t>
            </a:r>
            <a:r>
              <a:rPr lang="en-US" altLang="en-US" sz="2200" dirty="0">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machine learning model achieved an accuracy of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 90%</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demonstrating its strong capability in detecting fraud.</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Reduction in False Positives: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effectively minimized false positives, ensuring a smooth transaction experience for legitimate users.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Operational Efficiency:</a:t>
            </a:r>
            <a:r>
              <a:rPr lang="en-US" altLang="en-US" sz="2200" dirty="0">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automated fraud detection system helped reduce manual efforts and response times, improving financial security measures.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Detection Success:</a:t>
            </a:r>
            <a:r>
              <a:rPr lang="en-US" altLang="en-US" sz="2200" dirty="0">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successfully flagged fraudulent transactions in real time, showcasing its practical usability in financial environments.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273958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CONCLUSION</a:t>
            </a:r>
          </a:p>
        </p:txBody>
      </p:sp>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sv-SE" b="1">
                <a:latin typeface="Book Antiqua" pitchFamily="18" charset="0"/>
              </a:rPr>
              <a:t>Conclusion</a:t>
            </a:r>
            <a:endParaRPr kumimoji="0" lang="en-US" b="1" i="0" u="none" strike="noStrike" kern="1200" cap="none" spc="0" normalizeH="0" baseline="0" noProof="0">
              <a:ln>
                <a:noFill/>
              </a:ln>
              <a:solidFill>
                <a:schemeClr val="tx1"/>
              </a:solidFill>
              <a:effectLst/>
              <a:uLnTx/>
              <a:uFillTx/>
              <a:latin typeface="Book Antiqua" pitchFamily="18" charset="0"/>
              <a:ea typeface="+mn-ea"/>
              <a:cs typeface="+mn-cs"/>
            </a:endParaRPr>
          </a:p>
        </p:txBody>
      </p:sp>
      <p:sp>
        <p:nvSpPr>
          <p:cNvPr id="11" name="Footer Placeholder 6"/>
          <p:cNvSpPr txBox="1">
            <a:spLocks/>
          </p:cNvSpPr>
          <p:nvPr/>
        </p:nvSpPr>
        <p:spPr>
          <a:xfrm>
            <a:off x="0" y="6532880"/>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84182"/>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Rectangle 2">
            <a:extLst>
              <a:ext uri="{FF2B5EF4-FFF2-40B4-BE49-F238E27FC236}">
                <a16:creationId xmlns:a16="http://schemas.microsoft.com/office/drawing/2014/main" id="{5A6AAA43-2E6F-7201-0138-5FB1BB4AAC92}"/>
              </a:ext>
            </a:extLst>
          </p:cNvPr>
          <p:cNvSpPr>
            <a:spLocks noGrp="1" noChangeArrowheads="1"/>
          </p:cNvSpPr>
          <p:nvPr>
            <p:ph idx="1"/>
          </p:nvPr>
        </p:nvSpPr>
        <p:spPr bwMode="auto">
          <a:xfrm>
            <a:off x="533400" y="993260"/>
            <a:ext cx="807212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Proven Effectiveness:</a:t>
            </a:r>
            <a:r>
              <a:rPr lang="en-US" altLang="en-US" sz="2200" dirty="0">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confirms that ML-based fraud detection is a reliable solution for financial security challenges.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Potential:</a:t>
            </a:r>
            <a:r>
              <a:rPr lang="en-US" altLang="en-US" sz="2200" dirty="0">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can be further improved by integrating behavioral analytics and real-world deployment.</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 and Adaptability:</a:t>
            </a:r>
            <a:r>
              <a:rPr lang="en-US" altLang="en-US" sz="2200" dirty="0">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can be scaled and adapted to evolving fraud patterns, making it a long-term solution.</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Industry Readiness:</a:t>
            </a:r>
            <a:r>
              <a:rPr lang="en-US" altLang="en-US" sz="2200" dirty="0">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proper enhancements, the system can meet industry standards and be deployed across different financial sectors​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105368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FUTURE SCOPE</a:t>
            </a:r>
          </a:p>
        </p:txBody>
      </p:sp>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sv-SE" b="1" dirty="0">
                <a:latin typeface="Book Antiqua" pitchFamily="18" charset="0"/>
              </a:rPr>
              <a:t>Future Scope</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11" name="Footer Placeholder 6"/>
          <p:cNvSpPr txBox="1">
            <a:spLocks/>
          </p:cNvSpPr>
          <p:nvPr/>
        </p:nvSpPr>
        <p:spPr>
          <a:xfrm>
            <a:off x="0" y="6532880"/>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84182"/>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Rectangle 2">
            <a:extLst>
              <a:ext uri="{FF2B5EF4-FFF2-40B4-BE49-F238E27FC236}">
                <a16:creationId xmlns:a16="http://schemas.microsoft.com/office/drawing/2014/main" id="{A74AA515-1729-CD0E-1A19-797C718C00D1}"/>
              </a:ext>
            </a:extLst>
          </p:cNvPr>
          <p:cNvSpPr>
            <a:spLocks noGrp="1" noChangeArrowheads="1"/>
          </p:cNvSpPr>
          <p:nvPr>
            <p:ph idx="1"/>
          </p:nvPr>
        </p:nvSpPr>
        <p:spPr bwMode="auto">
          <a:xfrm>
            <a:off x="622423" y="1021537"/>
            <a:ext cx="7899154"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Behavioral Analytics Integration:</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Introducing behavioral analysis to monitor user activities over time, identifying unusual patterns that may indicate fraudulent behavior. This will enhance fraud detection accuracy and further reduce false positives.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Real-World Implementation:</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Deploying the system in real-time financial environments to test its performance with live transaction data. Continuous improvement based on user feedback and evolving fraud patterns.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Adaptive Machine Learning Models:</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Developing self-learning models that automatically update based on new fraud trends and patterns. Ensuring the system remains effective against constantly changing fraud techniques.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Cloud-Based Scalability:</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Expanding the system to handle large transaction volumes using cloud infrastructure for scalability and better performance.</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061992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639762"/>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FUTURE SCOPE</a:t>
            </a:r>
          </a:p>
        </p:txBody>
      </p:sp>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sv-SE" b="1" dirty="0">
                <a:latin typeface="Book Antiqua" pitchFamily="18" charset="0"/>
              </a:rPr>
              <a:t>Future Scope</a:t>
            </a:r>
            <a:endParaRPr kumimoji="0" lang="en-US" b="1" i="0" u="none" strike="noStrike" kern="1200" cap="none" spc="0" normalizeH="0" baseline="0" noProof="0" dirty="0">
              <a:ln>
                <a:noFill/>
              </a:ln>
              <a:solidFill>
                <a:schemeClr val="tx1"/>
              </a:solidFill>
              <a:effectLst/>
              <a:uLnTx/>
              <a:uFillTx/>
              <a:latin typeface="Book Antiqua" pitchFamily="18" charset="0"/>
              <a:ea typeface="+mn-ea"/>
              <a:cs typeface="+mn-cs"/>
            </a:endParaRPr>
          </a:p>
        </p:txBody>
      </p:sp>
      <p:sp>
        <p:nvSpPr>
          <p:cNvPr id="11" name="Footer Placeholder 6"/>
          <p:cNvSpPr txBox="1">
            <a:spLocks/>
          </p:cNvSpPr>
          <p:nvPr/>
        </p:nvSpPr>
        <p:spPr>
          <a:xfrm>
            <a:off x="0" y="6532880"/>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84182"/>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Rectangle 2">
            <a:extLst>
              <a:ext uri="{FF2B5EF4-FFF2-40B4-BE49-F238E27FC236}">
                <a16:creationId xmlns:a16="http://schemas.microsoft.com/office/drawing/2014/main" id="{A74AA515-1729-CD0E-1A19-797C718C00D1}"/>
              </a:ext>
            </a:extLst>
          </p:cNvPr>
          <p:cNvSpPr>
            <a:spLocks noGrp="1" noChangeArrowheads="1"/>
          </p:cNvSpPr>
          <p:nvPr>
            <p:ph idx="1"/>
          </p:nvPr>
        </p:nvSpPr>
        <p:spPr bwMode="auto">
          <a:xfrm>
            <a:off x="622423" y="1452424"/>
            <a:ext cx="789915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Cross-Domain Application:</a:t>
            </a:r>
            <a:r>
              <a:rPr lang="en-US" altLang="en-US" sz="2200" dirty="0">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Applying the fraud detection system in other domains such as e-commerce, insurance, and healthcare to combat fraudulent activities across industries.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Security Measures: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Implementing advanced encryption and authentication techniques to protect sensitive transaction data while ensuring compliance with financial regulations.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Dashboard and Reporting:</a:t>
            </a:r>
            <a:r>
              <a:rPr lang="en-US" altLang="en-US" sz="2200" dirty="0">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Developing an intuitive dashboard for real-time monitoring, analytics, and automated reporting to help organizations make informed decisions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355773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br>
              <a:rPr lang="en-US" sz="3200" b="1" dirty="0">
                <a:solidFill>
                  <a:srgbClr val="00B050"/>
                </a:solidFill>
                <a:latin typeface="Times New Roman" panose="02020603050405020304" pitchFamily="18" charset="0"/>
                <a:cs typeface="Times New Roman" panose="02020603050405020304" pitchFamily="18" charset="0"/>
              </a:rPr>
            </a:br>
            <a:r>
              <a:rPr lang="en-US" sz="3200" b="1" dirty="0">
                <a:solidFill>
                  <a:srgbClr val="002060"/>
                </a:solidFill>
                <a:latin typeface="Times New Roman" panose="02020603050405020304" pitchFamily="18" charset="0"/>
                <a:cs typeface="Times New Roman" panose="02020603050405020304" pitchFamily="18" charset="0"/>
              </a:rPr>
              <a:t>REFERENCES</a:t>
            </a:r>
            <a:br>
              <a:rPr lang="en-US" sz="3200" b="1" dirty="0">
                <a:solidFill>
                  <a:srgbClr val="00B050"/>
                </a:solidFill>
                <a:latin typeface="Times New Roman" panose="02020603050405020304" pitchFamily="18" charset="0"/>
                <a:cs typeface="Times New Roman" panose="02020603050405020304" pitchFamily="18" charset="0"/>
              </a:rPr>
            </a:br>
            <a:endParaRPr lang="en-US" sz="32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48640" y="886064"/>
            <a:ext cx="8229600" cy="4925456"/>
          </a:xfrm>
        </p:spPr>
        <p:txBody>
          <a:bodyPr vert="horz" lIns="91440" tIns="45720" rIns="91440" bIns="45720" rtlCol="0" anchor="t">
            <a:noAutofit/>
          </a:bodyPr>
          <a:lstStyle/>
          <a:p>
            <a:pPr marL="457200" indent="-457200" algn="just">
              <a:buFont typeface="+mj-lt"/>
              <a:buAutoNum type="arabicParenR"/>
            </a:pPr>
            <a:r>
              <a:rPr lang="en-IN" sz="2200" b="1" i="0" dirty="0">
                <a:solidFill>
                  <a:srgbClr val="0D0D0D"/>
                </a:solidFill>
                <a:effectLst/>
                <a:latin typeface="Times New Roman" panose="02020603050405020304" pitchFamily="18" charset="0"/>
                <a:cs typeface="Times New Roman" panose="02020603050405020304" pitchFamily="18" charset="0"/>
              </a:rPr>
              <a:t>Almeida, F., &amp; Lima, L. (2022).</a:t>
            </a:r>
            <a:r>
              <a:rPr lang="en-IN" sz="2200" b="0" i="0" dirty="0">
                <a:solidFill>
                  <a:srgbClr val="0D0D0D"/>
                </a:solidFill>
                <a:effectLst/>
                <a:latin typeface="Times New Roman" panose="02020603050405020304" pitchFamily="18" charset="0"/>
                <a:cs typeface="Times New Roman" panose="02020603050405020304" pitchFamily="18" charset="0"/>
              </a:rPr>
              <a:t> “An AI-Driven Approach for Fraud Detection in Financial Transactions.” </a:t>
            </a:r>
            <a:r>
              <a:rPr lang="en-IN" sz="2200" b="0" i="1" dirty="0">
                <a:solidFill>
                  <a:srgbClr val="0D0D0D"/>
                </a:solidFill>
                <a:effectLst/>
                <a:latin typeface="Times New Roman" panose="02020603050405020304" pitchFamily="18" charset="0"/>
                <a:cs typeface="Times New Roman" panose="02020603050405020304" pitchFamily="18" charset="0"/>
              </a:rPr>
              <a:t>IEEE Transactions on Information Forensics and Security</a:t>
            </a:r>
            <a:r>
              <a:rPr lang="en-IN" sz="2200" b="0" i="0" dirty="0">
                <a:solidFill>
                  <a:srgbClr val="0D0D0D"/>
                </a:solidFill>
                <a:effectLst/>
                <a:latin typeface="Times New Roman" panose="02020603050405020304" pitchFamily="18" charset="0"/>
                <a:cs typeface="Times New Roman" panose="02020603050405020304" pitchFamily="18" charset="0"/>
              </a:rPr>
              <a:t>, 17(5), 1153-1165.</a:t>
            </a:r>
          </a:p>
          <a:p>
            <a:pPr marL="457200" indent="-457200" algn="just">
              <a:buFont typeface="+mj-lt"/>
              <a:buAutoNum type="arabicParenR"/>
            </a:pPr>
            <a:r>
              <a:rPr lang="en-IN" sz="2200" b="1" i="0" dirty="0">
                <a:solidFill>
                  <a:srgbClr val="0D0D0D"/>
                </a:solidFill>
                <a:effectLst/>
                <a:latin typeface="Times New Roman" panose="02020603050405020304" pitchFamily="18" charset="0"/>
                <a:cs typeface="Times New Roman" panose="02020603050405020304" pitchFamily="18" charset="0"/>
              </a:rPr>
              <a:t>Sharma, R., &amp; Gupta, M. (2023).</a:t>
            </a:r>
            <a:r>
              <a:rPr lang="en-IN" sz="2200" b="0" i="0" dirty="0">
                <a:solidFill>
                  <a:srgbClr val="0D0D0D"/>
                </a:solidFill>
                <a:effectLst/>
                <a:latin typeface="Times New Roman" panose="02020603050405020304" pitchFamily="18" charset="0"/>
                <a:cs typeface="Times New Roman" panose="02020603050405020304" pitchFamily="18" charset="0"/>
              </a:rPr>
              <a:t> “Real-Time Fraud Detection Using Machine Learning Techniques.” </a:t>
            </a:r>
            <a:r>
              <a:rPr lang="en-IN" sz="2200" b="0" i="1" dirty="0">
                <a:solidFill>
                  <a:srgbClr val="0D0D0D"/>
                </a:solidFill>
                <a:effectLst/>
                <a:latin typeface="Times New Roman" panose="02020603050405020304" pitchFamily="18" charset="0"/>
                <a:cs typeface="Times New Roman" panose="02020603050405020304" pitchFamily="18" charset="0"/>
              </a:rPr>
              <a:t>Journal of Financial Crime</a:t>
            </a:r>
            <a:r>
              <a:rPr lang="en-IN" sz="2200" b="0" i="0" dirty="0">
                <a:solidFill>
                  <a:srgbClr val="0D0D0D"/>
                </a:solidFill>
                <a:effectLst/>
                <a:latin typeface="Times New Roman" panose="02020603050405020304" pitchFamily="18" charset="0"/>
                <a:cs typeface="Times New Roman" panose="02020603050405020304" pitchFamily="18" charset="0"/>
              </a:rPr>
              <a:t>, 30(2), 329-345.</a:t>
            </a:r>
          </a:p>
          <a:p>
            <a:pPr marL="457200" indent="-457200" algn="just">
              <a:buFont typeface="+mj-lt"/>
              <a:buAutoNum type="arabicParenR"/>
            </a:pPr>
            <a:r>
              <a:rPr lang="en-IN" sz="2200" b="1" i="0" dirty="0">
                <a:solidFill>
                  <a:srgbClr val="0D0D0D"/>
                </a:solidFill>
                <a:effectLst/>
                <a:latin typeface="Times New Roman" panose="02020603050405020304" pitchFamily="18" charset="0"/>
                <a:cs typeface="Times New Roman" panose="02020603050405020304" pitchFamily="18" charset="0"/>
              </a:rPr>
              <a:t>Kumar, A., &amp; Patel, S. (2023).</a:t>
            </a:r>
            <a:r>
              <a:rPr lang="en-IN" sz="2200" b="0" i="0" dirty="0">
                <a:solidFill>
                  <a:srgbClr val="0D0D0D"/>
                </a:solidFill>
                <a:effectLst/>
                <a:latin typeface="Times New Roman" panose="02020603050405020304" pitchFamily="18" charset="0"/>
                <a:cs typeface="Times New Roman" panose="02020603050405020304" pitchFamily="18" charset="0"/>
              </a:rPr>
              <a:t> “Enhancing Fraud Detection Accuracy with Neural Networks.” </a:t>
            </a:r>
            <a:r>
              <a:rPr lang="en-IN" sz="2200" b="0" i="1" dirty="0">
                <a:solidFill>
                  <a:srgbClr val="0D0D0D"/>
                </a:solidFill>
                <a:effectLst/>
                <a:latin typeface="Times New Roman" panose="02020603050405020304" pitchFamily="18" charset="0"/>
                <a:cs typeface="Times New Roman" panose="02020603050405020304" pitchFamily="18" charset="0"/>
              </a:rPr>
              <a:t>International Journal of Computer Applications</a:t>
            </a:r>
            <a:r>
              <a:rPr lang="en-IN" sz="2200" b="0" i="0" dirty="0">
                <a:solidFill>
                  <a:srgbClr val="0D0D0D"/>
                </a:solidFill>
                <a:effectLst/>
                <a:latin typeface="Times New Roman" panose="02020603050405020304" pitchFamily="18" charset="0"/>
                <a:cs typeface="Times New Roman" panose="02020603050405020304" pitchFamily="18" charset="0"/>
              </a:rPr>
              <a:t>, 179(1), 12-18.</a:t>
            </a:r>
          </a:p>
          <a:p>
            <a:pPr marL="457200" indent="-457200" algn="just">
              <a:buFont typeface="+mj-lt"/>
              <a:buAutoNum type="arabicParenR"/>
            </a:pPr>
            <a:r>
              <a:rPr lang="en-IN" sz="2200" b="1" i="0" dirty="0">
                <a:solidFill>
                  <a:srgbClr val="0D0D0D"/>
                </a:solidFill>
                <a:effectLst/>
                <a:latin typeface="Times New Roman" panose="02020603050405020304" pitchFamily="18" charset="0"/>
                <a:cs typeface="Times New Roman" panose="02020603050405020304" pitchFamily="18" charset="0"/>
              </a:rPr>
              <a:t>Zhou, Y., &amp; Wang, X. (2023).</a:t>
            </a:r>
            <a:r>
              <a:rPr lang="en-IN" sz="2200" b="0" i="0" dirty="0">
                <a:solidFill>
                  <a:srgbClr val="0D0D0D"/>
                </a:solidFill>
                <a:effectLst/>
                <a:latin typeface="Times New Roman" panose="02020603050405020304" pitchFamily="18" charset="0"/>
                <a:cs typeface="Times New Roman" panose="02020603050405020304" pitchFamily="18" charset="0"/>
              </a:rPr>
              <a:t> “Cloud-Based Solutions for Scalable Fraud Detection Systems.” </a:t>
            </a:r>
            <a:r>
              <a:rPr lang="en-IN" sz="2200" b="0" i="1" dirty="0">
                <a:solidFill>
                  <a:srgbClr val="0D0D0D"/>
                </a:solidFill>
                <a:effectLst/>
                <a:latin typeface="Times New Roman" panose="02020603050405020304" pitchFamily="18" charset="0"/>
                <a:cs typeface="Times New Roman" panose="02020603050405020304" pitchFamily="18" charset="0"/>
              </a:rPr>
              <a:t>Journal of Cloud Computing: Advances, Systems and Applications</a:t>
            </a:r>
            <a:r>
              <a:rPr lang="en-IN" sz="2200" b="0" i="0" dirty="0">
                <a:solidFill>
                  <a:srgbClr val="0D0D0D"/>
                </a:solidFill>
                <a:effectLst/>
                <a:latin typeface="Times New Roman" panose="02020603050405020304" pitchFamily="18" charset="0"/>
                <a:cs typeface="Times New Roman" panose="02020603050405020304" pitchFamily="18" charset="0"/>
              </a:rPr>
              <a:t>, 12(1), 1-15.</a:t>
            </a:r>
          </a:p>
          <a:p>
            <a:pPr marL="0" indent="0" algn="just">
              <a:lnSpc>
                <a:spcPct val="120000"/>
              </a:lnSpc>
              <a:spcBef>
                <a:spcPts val="400"/>
              </a:spcBef>
              <a:buNone/>
            </a:pPr>
            <a:endParaRPr lang="en-US" sz="2400" dirty="0">
              <a:solidFill>
                <a:prstClr val="black"/>
              </a:solidFill>
              <a:latin typeface="Times New Roman" panose="02020603050405020304" pitchFamily="18" charset="0"/>
              <a:ea typeface="+mn-lt"/>
              <a:cs typeface="Times New Roman" panose="02020603050405020304" pitchFamily="18" charset="0"/>
            </a:endParaRPr>
          </a:p>
          <a:p>
            <a:pPr marL="0" indent="0" algn="just">
              <a:lnSpc>
                <a:spcPct val="120000"/>
              </a:lnSpc>
              <a:spcBef>
                <a:spcPts val="400"/>
              </a:spcBef>
              <a:buNone/>
            </a:pPr>
            <a:endParaRPr lang="en-US" sz="2400" dirty="0">
              <a:solidFill>
                <a:prstClr val="black"/>
              </a:solidFill>
              <a:latin typeface="Times New Roman" panose="02020603050405020304" pitchFamily="18" charset="0"/>
              <a:ea typeface="+mn-lt"/>
              <a:cs typeface="Times New Roman" panose="02020603050405020304" pitchFamily="18" charset="0"/>
            </a:endParaRPr>
          </a:p>
          <a:p>
            <a:pPr marL="365125" indent="-365125" algn="just">
              <a:lnSpc>
                <a:spcPct val="120000"/>
              </a:lnSpc>
              <a:spcBef>
                <a:spcPts val="400"/>
              </a:spcBef>
              <a:buNone/>
            </a:pPr>
            <a:endParaRPr lang="it-IT" sz="2400" dirty="0">
              <a:solidFill>
                <a:prstClr val="black"/>
              </a:solidFill>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0" y="0"/>
            <a:ext cx="9144000" cy="304800"/>
          </a:xfrm>
          <a:prstGeom prst="rect">
            <a:avLst/>
          </a:prstGeom>
          <a:solidFill>
            <a:schemeClr val="accent6"/>
          </a:solidFill>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sv-SE" b="1">
                <a:latin typeface="Book Antiqua" pitchFamily="18" charset="0"/>
              </a:rPr>
              <a:t>References</a:t>
            </a:r>
            <a:endParaRPr kumimoji="0" lang="en-US" b="1" i="0" u="none" strike="noStrike" kern="1200" cap="none" spc="0" normalizeH="0" baseline="0" noProof="0">
              <a:ln>
                <a:noFill/>
              </a:ln>
              <a:solidFill>
                <a:schemeClr val="tx1"/>
              </a:solidFill>
              <a:effectLst/>
              <a:uLnTx/>
              <a:uFillTx/>
              <a:latin typeface="Book Antiqua" pitchFamily="18" charset="0"/>
              <a:ea typeface="+mn-ea"/>
              <a:cs typeface="+mn-cs"/>
            </a:endParaRPr>
          </a:p>
        </p:txBody>
      </p:sp>
      <p:sp>
        <p:nvSpPr>
          <p:cNvPr id="11" name="Footer Placeholder 6"/>
          <p:cNvSpPr txBox="1">
            <a:spLocks/>
          </p:cNvSpPr>
          <p:nvPr/>
        </p:nvSpPr>
        <p:spPr>
          <a:xfrm>
            <a:off x="0" y="6523355"/>
            <a:ext cx="9144000" cy="365125"/>
          </a:xfrm>
          <a:prstGeom prst="rect">
            <a:avLst/>
          </a:prstGeom>
          <a:solidFill>
            <a:schemeClr val="accent6"/>
          </a:solid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chemeClr val="tx1"/>
                </a:solidFill>
                <a:effectLst/>
                <a:uLnTx/>
                <a:uFillTx/>
                <a:latin typeface="+mn-lt"/>
                <a:ea typeface="+mn-ea"/>
                <a:cs typeface="+mn-cs"/>
              </a:rPr>
              <a:t>Dept. of ISE, SIT, Tumkur</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pic>
        <p:nvPicPr>
          <p:cNvPr id="12" name="Picture 1" descr="C:\Users\Administrator\Desktop\Comp\Ubi-Cam\Ubi-Cam\ic_launcher-web.png"/>
          <p:cNvPicPr>
            <a:picLocks noChangeAspect="1" noChangeArrowheads="1"/>
          </p:cNvPicPr>
          <p:nvPr/>
        </p:nvPicPr>
        <p:blipFill>
          <a:blip r:embed="rId3" cstate="print"/>
          <a:srcRect/>
          <a:stretch>
            <a:fillRect/>
          </a:stretch>
        </p:blipFill>
        <p:spPr bwMode="auto">
          <a:xfrm>
            <a:off x="0" y="6475491"/>
            <a:ext cx="375082" cy="382509"/>
          </a:xfrm>
          <a:prstGeom prst="rect">
            <a:avLst/>
          </a:prstGeom>
          <a:noFill/>
        </p:spPr>
      </p:pic>
      <p:sp>
        <p:nvSpPr>
          <p:cNvPr id="13" name="Slide Number Placeholder 8"/>
          <p:cNvSpPr txBox="1">
            <a:spLocks/>
          </p:cNvSpPr>
          <p:nvPr/>
        </p:nvSpPr>
        <p:spPr>
          <a:xfrm>
            <a:off x="7010400" y="6492875"/>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DFFA8894-9BB9-4840-9552-2631AF7E8A18}"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alpha val="28000"/>
          </a:schemeClr>
        </a:solidFill>
        <a:effectLst/>
      </p:bgPr>
    </p:bg>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448394" y="1365539"/>
            <a:ext cx="8229600" cy="3874619"/>
          </a:xfrm>
        </p:spPr>
        <p:txBody>
          <a:bodyPr rtlCol="0">
            <a:normAutofit/>
          </a:bodyPr>
          <a:lstStyle/>
          <a:p>
            <a:pPr algn="ctr">
              <a:buNone/>
              <a:defRPr/>
            </a:pPr>
            <a:r>
              <a:rPr lang="sv-SE" sz="9600" b="1" i="1" dirty="0">
                <a:solidFill>
                  <a:schemeClr val="accent6"/>
                </a:solidFill>
                <a:latin typeface="Brush Script MT" pitchFamily="66" charset="0"/>
              </a:rPr>
              <a:t>Thank You one &amp; all</a:t>
            </a:r>
            <a:endParaRPr lang="sv-SE" sz="9600" i="1" dirty="0">
              <a:solidFill>
                <a:schemeClr val="accent6"/>
              </a:solidFill>
              <a:latin typeface="Brush Script MT" pitchFamily="66" charset="0"/>
            </a:endParaRPr>
          </a:p>
        </p:txBody>
      </p:sp>
      <p:sp>
        <p:nvSpPr>
          <p:cNvPr id="6" name="Slide Number Placeholder 5"/>
          <p:cNvSpPr>
            <a:spLocks noGrp="1"/>
          </p:cNvSpPr>
          <p:nvPr>
            <p:ph type="sldNum" sz="quarter" idx="12"/>
          </p:nvPr>
        </p:nvSpPr>
        <p:spPr/>
        <p:txBody>
          <a:bodyPr/>
          <a:lstStyle/>
          <a:p>
            <a:fld id="{DFFA8894-9BB9-4840-9552-2631AF7E8A18}" type="slidenum">
              <a:rPr lang="en-US" smtClean="0"/>
              <a:pPr/>
              <a:t>31</a:t>
            </a:fld>
            <a:endParaRPr lang="en-US"/>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6673</TotalTime>
  <Words>2254</Words>
  <Application>Microsoft Office PowerPoint</Application>
  <PresentationFormat>On-screen Show (4:3)</PresentationFormat>
  <Paragraphs>406</Paragraphs>
  <Slides>31</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Book Antiqua</vt:lpstr>
      <vt:lpstr>Bookman Old Style</vt:lpstr>
      <vt:lpstr>Brush Script MT</vt:lpstr>
      <vt:lpstr>Calibri</vt:lpstr>
      <vt:lpstr>Times New Roman</vt:lpstr>
      <vt:lpstr>Wingdings</vt:lpstr>
      <vt:lpstr>Office Theme</vt:lpstr>
      <vt:lpstr>  Mini Project Final Review Presentation  on Detection of Legitimate Transaction using ML Approach   </vt:lpstr>
      <vt:lpstr>OUTLINE</vt:lpstr>
      <vt:lpstr>INTRODUCTION</vt:lpstr>
      <vt:lpstr>PROBLEM STATEMENT</vt:lpstr>
      <vt:lpstr>OBJECTIVES</vt:lpstr>
      <vt:lpstr>LITERATURE SURVEY</vt:lpstr>
      <vt:lpstr>LITERATURE SURVEY</vt:lpstr>
      <vt:lpstr>LITERATURE SURVEY</vt:lpstr>
      <vt:lpstr>LITERATURE SURVEY</vt:lpstr>
      <vt:lpstr>LITERATURE SURVEY OUTCOME</vt:lpstr>
      <vt:lpstr>DATASET OVERVIEW</vt:lpstr>
      <vt:lpstr>BLOCK DIAGRAM OF PROPOSED WORK</vt:lpstr>
      <vt:lpstr>SYSTEM ARCHITECTURE</vt:lpstr>
      <vt:lpstr>SYSTEM WORKFLOW</vt:lpstr>
      <vt:lpstr>COMPARISON TABLE</vt:lpstr>
      <vt:lpstr>COMPARISON TABLE</vt:lpstr>
      <vt:lpstr>CONFUSION METRIX</vt:lpstr>
      <vt:lpstr>APPLICATION</vt:lpstr>
      <vt:lpstr>RESULTS</vt:lpstr>
      <vt:lpstr>RESULTS</vt:lpstr>
      <vt:lpstr>RESULTS</vt:lpstr>
      <vt:lpstr>RESULTS</vt:lpstr>
      <vt:lpstr>RESULTS</vt:lpstr>
      <vt:lpstr>RESULTS</vt:lpstr>
      <vt:lpstr>RESULTS</vt:lpstr>
      <vt:lpstr>RESULTS</vt:lpstr>
      <vt:lpstr>CONCLUSION</vt:lpstr>
      <vt:lpstr>FUTURE SCOPE</vt:lpstr>
      <vt:lpstr>FUTURE SCOPE</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ISEStaff</dc:creator>
  <cp:lastModifiedBy>manojrohinigowda1@gmail.com</cp:lastModifiedBy>
  <cp:revision>55</cp:revision>
  <dcterms:created xsi:type="dcterms:W3CDTF">2014-04-21T11:37:19Z</dcterms:created>
  <dcterms:modified xsi:type="dcterms:W3CDTF">2025-07-05T10:54:49Z</dcterms:modified>
</cp:coreProperties>
</file>